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38"/>
  </p:notesMasterIdLst>
  <p:sldIdLst>
    <p:sldId id="409" r:id="rId4"/>
    <p:sldId id="412" r:id="rId5"/>
    <p:sldId id="392" r:id="rId6"/>
    <p:sldId id="378" r:id="rId7"/>
    <p:sldId id="310" r:id="rId8"/>
    <p:sldId id="381" r:id="rId9"/>
    <p:sldId id="393" r:id="rId10"/>
    <p:sldId id="397" r:id="rId11"/>
    <p:sldId id="385" r:id="rId12"/>
    <p:sldId id="311" r:id="rId13"/>
    <p:sldId id="383" r:id="rId14"/>
    <p:sldId id="386" r:id="rId15"/>
    <p:sldId id="384" r:id="rId16"/>
    <p:sldId id="416" r:id="rId17"/>
    <p:sldId id="394" r:id="rId18"/>
    <p:sldId id="408" r:id="rId19"/>
    <p:sldId id="398" r:id="rId20"/>
    <p:sldId id="399" r:id="rId21"/>
    <p:sldId id="400" r:id="rId22"/>
    <p:sldId id="367" r:id="rId23"/>
    <p:sldId id="368" r:id="rId24"/>
    <p:sldId id="402" r:id="rId25"/>
    <p:sldId id="414" r:id="rId26"/>
    <p:sldId id="403" r:id="rId27"/>
    <p:sldId id="404" r:id="rId28"/>
    <p:sldId id="372" r:id="rId29"/>
    <p:sldId id="395" r:id="rId30"/>
    <p:sldId id="405" r:id="rId31"/>
    <p:sldId id="406" r:id="rId32"/>
    <p:sldId id="396" r:id="rId33"/>
    <p:sldId id="407" r:id="rId34"/>
    <p:sldId id="411" r:id="rId35"/>
    <p:sldId id="415" r:id="rId36"/>
    <p:sldId id="375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75EFAF-25E5-4756-8511-B7BE2565AAD2}">
          <p14:sldIdLst>
            <p14:sldId id="409"/>
            <p14:sldId id="412"/>
            <p14:sldId id="392"/>
            <p14:sldId id="378"/>
            <p14:sldId id="310"/>
            <p14:sldId id="381"/>
            <p14:sldId id="393"/>
            <p14:sldId id="397"/>
            <p14:sldId id="385"/>
            <p14:sldId id="311"/>
            <p14:sldId id="383"/>
            <p14:sldId id="386"/>
            <p14:sldId id="384"/>
            <p14:sldId id="416"/>
            <p14:sldId id="394"/>
            <p14:sldId id="408"/>
            <p14:sldId id="398"/>
            <p14:sldId id="399"/>
            <p14:sldId id="400"/>
            <p14:sldId id="367"/>
            <p14:sldId id="368"/>
            <p14:sldId id="402"/>
            <p14:sldId id="414"/>
            <p14:sldId id="403"/>
            <p14:sldId id="404"/>
            <p14:sldId id="372"/>
            <p14:sldId id="395"/>
            <p14:sldId id="405"/>
            <p14:sldId id="406"/>
            <p14:sldId id="396"/>
            <p14:sldId id="407"/>
            <p14:sldId id="411"/>
            <p14:sldId id="415"/>
            <p14:sldId id="375"/>
          </p14:sldIdLst>
        </p14:section>
        <p14:section name="Default Section" id="{B8EB7770-0386-4CE8-99E3-0677F6D330AF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E40EF7-4FDB-46DC-AD5C-7AA9927BCDC4}" type="doc">
      <dgm:prSet loTypeId="process" loCatId="process" qsTypeId="urn:microsoft.com/office/officeart/2005/8/quickstyle/simple1" qsCatId="simple" csTypeId="urn:microsoft.com/office/officeart/2005/8/colors/accent5_1" csCatId="accent1" phldr="0"/>
      <dgm:spPr/>
      <dgm:t>
        <a:bodyPr/>
        <a:p>
          <a:endParaRPr lang="zh-CN" altLang="en-US"/>
        </a:p>
      </dgm:t>
    </dgm:pt>
    <dgm:pt modelId="{79A907BE-6A57-46F9-949B-2F83975E501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>Introduction and Motivation</a:t>
          </a: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zh-C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508ADE-09B9-4692-B3B1-997C0A038367}" cxnId="{3CC7C60A-1035-4622-ACEA-07AC74C5B0BF}" type="parTrans">
      <dgm:prSet/>
      <dgm:spPr/>
      <dgm:t>
        <a:bodyPr/>
        <a:p>
          <a:endParaRPr lang="zh-CN" altLang="en-US"/>
        </a:p>
      </dgm:t>
    </dgm:pt>
    <dgm:pt modelId="{6E764295-1C97-4A8A-BB23-8F6587B65D20}" cxnId="{3CC7C60A-1035-4622-ACEA-07AC74C5B0BF}" type="sibTrans">
      <dgm:prSet/>
      <dgm:spPr/>
      <dgm:t>
        <a:bodyPr/>
        <a:p>
          <a:endParaRPr lang="zh-CN" altLang="en-US"/>
        </a:p>
      </dgm:t>
    </dgm:pt>
    <dgm:pt modelId="{047E9EF6-99D9-47D4-8421-7851F36A512F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>Methods : Formulism and matRad </a:t>
          </a: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zh-C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C7BC3F-1829-4928-9FDD-1BD085861192}" cxnId="{C3844F27-E316-499C-BA46-85589DFE4A09}" type="parTrans">
      <dgm:prSet/>
      <dgm:spPr/>
      <dgm:t>
        <a:bodyPr/>
        <a:p>
          <a:endParaRPr lang="zh-CN" altLang="en-US"/>
        </a:p>
      </dgm:t>
    </dgm:pt>
    <dgm:pt modelId="{B3A60D08-4CF1-4AD3-A554-8DA1472F6362}" cxnId="{C3844F27-E316-499C-BA46-85589DFE4A09}" type="sibTrans">
      <dgm:prSet/>
      <dgm:spPr/>
      <dgm:t>
        <a:bodyPr/>
        <a:p>
          <a:endParaRPr lang="zh-CN" altLang="en-US"/>
        </a:p>
      </dgm:t>
    </dgm:pt>
    <dgm:pt modelId="{9B99C3CE-0550-4254-B164-BB9424E18E5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>Results</a:t>
          </a: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zh-C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18C7ED-262E-47EB-A8BC-BC18A4B2756C}" cxnId="{945F4E2B-EE48-4ECA-8720-BCC19D7C8921}" type="parTrans">
      <dgm:prSet/>
      <dgm:spPr/>
      <dgm:t>
        <a:bodyPr/>
        <a:p>
          <a:endParaRPr lang="zh-CN" altLang="en-US"/>
        </a:p>
      </dgm:t>
    </dgm:pt>
    <dgm:pt modelId="{C20DFEDB-A5DA-48B1-860C-C64E9FB9889D}" cxnId="{945F4E2B-EE48-4ECA-8720-BCC19D7C8921}" type="sibTrans">
      <dgm:prSet/>
      <dgm:spPr/>
      <dgm:t>
        <a:bodyPr/>
        <a:p>
          <a:endParaRPr lang="zh-CN" altLang="en-US"/>
        </a:p>
      </dgm:t>
    </dgm:pt>
    <dgm:pt modelId="{4DBF9FC0-7F11-49D1-A13A-F9EF16035E7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>Discussions and </a:t>
          </a: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>Conclusions</a:t>
          </a: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zh-C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6438C4-1259-4C94-B7A8-3756D5685E48}" cxnId="{ED31288E-9818-4E72-AF38-90B756D7E99E}" type="parTrans">
      <dgm:prSet/>
      <dgm:spPr/>
      <dgm:t>
        <a:bodyPr/>
        <a:p>
          <a:endParaRPr lang="zh-CN" altLang="en-US"/>
        </a:p>
      </dgm:t>
    </dgm:pt>
    <dgm:pt modelId="{627790A7-E5AF-4DEF-9847-DE068ABD657B}" cxnId="{ED31288E-9818-4E72-AF38-90B756D7E99E}" type="sibTrans">
      <dgm:prSet/>
      <dgm:spPr/>
      <dgm:t>
        <a:bodyPr/>
        <a:p>
          <a:endParaRPr lang="zh-CN" altLang="en-US"/>
        </a:p>
      </dgm:t>
    </dgm:pt>
    <dgm:pt modelId="{3B57DE3A-D0CA-4A4A-A50B-01FBE031AA6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>Future Works</a:t>
          </a:r>
          <a:r>
            <a:rPr lang="en-US" altLang="zh-CN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zh-C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FA3677-4FAE-4C5E-B3CE-CF3B6D80F4A1}" cxnId="{4080A220-270D-4983-9037-6E5CDF28EF6D}" type="parTrans">
      <dgm:prSet/>
      <dgm:spPr/>
      <dgm:t>
        <a:bodyPr/>
        <a:p>
          <a:endParaRPr lang="zh-CN" altLang="en-US"/>
        </a:p>
      </dgm:t>
    </dgm:pt>
    <dgm:pt modelId="{D4875198-FB6C-46A1-9EC3-6A21426D178B}" cxnId="{4080A220-270D-4983-9037-6E5CDF28EF6D}" type="sibTrans">
      <dgm:prSet/>
      <dgm:spPr/>
      <dgm:t>
        <a:bodyPr/>
        <a:p>
          <a:endParaRPr lang="zh-CN" altLang="en-US"/>
        </a:p>
      </dgm:t>
    </dgm:pt>
    <dgm:pt modelId="{1623B4C5-2499-4637-B07C-6AE8AE2BD718}" type="pres">
      <dgm:prSet presAssocID="{4BE40EF7-4FDB-46DC-AD5C-7AA9927BCDC4}" presName="Name0" presStyleCnt="0">
        <dgm:presLayoutVars>
          <dgm:dir/>
          <dgm:resizeHandles val="exact"/>
        </dgm:presLayoutVars>
      </dgm:prSet>
      <dgm:spPr/>
    </dgm:pt>
    <dgm:pt modelId="{2FBE2C1E-1D94-400F-A227-985D4DA10085}" type="pres">
      <dgm:prSet presAssocID="{79A907BE-6A57-46F9-949B-2F83975E5013}" presName="node" presStyleLbl="node1" presStyleIdx="0" presStyleCnt="5">
        <dgm:presLayoutVars>
          <dgm:bulletEnabled val="1"/>
        </dgm:presLayoutVars>
      </dgm:prSet>
      <dgm:spPr/>
    </dgm:pt>
    <dgm:pt modelId="{9F73252C-5345-45F1-A6FA-69E44781CCB0}" type="pres">
      <dgm:prSet presAssocID="{6E764295-1C97-4A8A-BB23-8F6587B65D20}" presName="sibTrans" presStyleLbl="sibTrans1D1" presStyleIdx="0" presStyleCnt="4"/>
      <dgm:spPr/>
    </dgm:pt>
    <dgm:pt modelId="{0A91809B-8299-4CB8-B3C9-28D901126CE1}" type="pres">
      <dgm:prSet presAssocID="{6E764295-1C97-4A8A-BB23-8F6587B65D20}" presName="connectorText" presStyleCnt="0"/>
      <dgm:spPr/>
    </dgm:pt>
    <dgm:pt modelId="{0482690C-586E-41D6-8B40-4CA7581A9CE9}" type="pres">
      <dgm:prSet presAssocID="{047E9EF6-99D9-47D4-8421-7851F36A512F}" presName="node" presStyleLbl="node1" presStyleIdx="1" presStyleCnt="5">
        <dgm:presLayoutVars>
          <dgm:bulletEnabled val="1"/>
        </dgm:presLayoutVars>
      </dgm:prSet>
      <dgm:spPr/>
    </dgm:pt>
    <dgm:pt modelId="{EBB69596-36AB-40F1-91C5-FC3350A00067}" type="pres">
      <dgm:prSet presAssocID="{B3A60D08-4CF1-4AD3-A554-8DA1472F6362}" presName="sibTrans" presStyleLbl="sibTrans1D1" presStyleIdx="1" presStyleCnt="4"/>
      <dgm:spPr/>
    </dgm:pt>
    <dgm:pt modelId="{9F0FF7A9-40E9-4C02-BFFF-6F0641C2389B}" type="pres">
      <dgm:prSet presAssocID="{B3A60D08-4CF1-4AD3-A554-8DA1472F6362}" presName="connectorText" presStyleCnt="0"/>
      <dgm:spPr/>
    </dgm:pt>
    <dgm:pt modelId="{E5145E43-B450-47CE-B1E5-1482BCF4071D}" type="pres">
      <dgm:prSet presAssocID="{9B99C3CE-0550-4254-B164-BB9424E18E56}" presName="node" presStyleLbl="node1" presStyleIdx="2" presStyleCnt="5">
        <dgm:presLayoutVars>
          <dgm:bulletEnabled val="1"/>
        </dgm:presLayoutVars>
      </dgm:prSet>
      <dgm:spPr/>
    </dgm:pt>
    <dgm:pt modelId="{31F3FE5F-74B2-48F8-89DC-AE29DBB498B0}" type="pres">
      <dgm:prSet presAssocID="{C20DFEDB-A5DA-48B1-860C-C64E9FB9889D}" presName="sibTrans" presStyleLbl="sibTrans1D1" presStyleIdx="2" presStyleCnt="4"/>
      <dgm:spPr/>
    </dgm:pt>
    <dgm:pt modelId="{EF27A438-6BA1-43B2-9139-DBAF3CBBEF89}" type="pres">
      <dgm:prSet presAssocID="{C20DFEDB-A5DA-48B1-860C-C64E9FB9889D}" presName="connectorText" presStyleCnt="0"/>
      <dgm:spPr/>
    </dgm:pt>
    <dgm:pt modelId="{13492D71-E670-42C9-A619-1DE9B5F887F1}" type="pres">
      <dgm:prSet presAssocID="{4DBF9FC0-7F11-49D1-A13A-F9EF16035E78}" presName="node" presStyleLbl="node1" presStyleIdx="3" presStyleCnt="5">
        <dgm:presLayoutVars>
          <dgm:bulletEnabled val="1"/>
        </dgm:presLayoutVars>
      </dgm:prSet>
      <dgm:spPr/>
    </dgm:pt>
    <dgm:pt modelId="{E85A6953-055C-454F-835D-7FF8096CA491}" type="pres">
      <dgm:prSet presAssocID="{627790A7-E5AF-4DEF-9847-DE068ABD657B}" presName="sibTrans" presStyleLbl="sibTrans1D1" presStyleIdx="3" presStyleCnt="4"/>
      <dgm:spPr/>
    </dgm:pt>
    <dgm:pt modelId="{EB69ECB2-9BFD-4754-8113-1A1F7EFC836E}" type="pres">
      <dgm:prSet presAssocID="{627790A7-E5AF-4DEF-9847-DE068ABD657B}" presName="connectorText" presStyleCnt="0"/>
      <dgm:spPr/>
    </dgm:pt>
    <dgm:pt modelId="{F80816D7-392E-4741-B9A3-C73586F7EC67}" type="pres">
      <dgm:prSet presAssocID="{3B57DE3A-D0CA-4A4A-A50B-01FBE031AA69}" presName="node" presStyleLbl="node1" presStyleIdx="4" presStyleCnt="5">
        <dgm:presLayoutVars>
          <dgm:bulletEnabled val="1"/>
        </dgm:presLayoutVars>
      </dgm:prSet>
      <dgm:spPr/>
    </dgm:pt>
  </dgm:ptLst>
  <dgm:cxnLst>
    <dgm:cxn modelId="{3CC7C60A-1035-4622-ACEA-07AC74C5B0BF}" srcId="{4BE40EF7-4FDB-46DC-AD5C-7AA9927BCDC4}" destId="{79A907BE-6A57-46F9-949B-2F83975E5013}" srcOrd="0" destOrd="0" parTransId="{27508ADE-09B9-4692-B3B1-997C0A038367}" sibTransId="{6E764295-1C97-4A8A-BB23-8F6587B65D20}"/>
    <dgm:cxn modelId="{C3844F27-E316-499C-BA46-85589DFE4A09}" srcId="{4BE40EF7-4FDB-46DC-AD5C-7AA9927BCDC4}" destId="{047E9EF6-99D9-47D4-8421-7851F36A512F}" srcOrd="1" destOrd="0" parTransId="{2AC7BC3F-1829-4928-9FDD-1BD085861192}" sibTransId="{B3A60D08-4CF1-4AD3-A554-8DA1472F6362}"/>
    <dgm:cxn modelId="{945F4E2B-EE48-4ECA-8720-BCC19D7C8921}" srcId="{4BE40EF7-4FDB-46DC-AD5C-7AA9927BCDC4}" destId="{9B99C3CE-0550-4254-B164-BB9424E18E56}" srcOrd="2" destOrd="0" parTransId="{CF18C7ED-262E-47EB-A8BC-BC18A4B2756C}" sibTransId="{C20DFEDB-A5DA-48B1-860C-C64E9FB9889D}"/>
    <dgm:cxn modelId="{ED31288E-9818-4E72-AF38-90B756D7E99E}" srcId="{4BE40EF7-4FDB-46DC-AD5C-7AA9927BCDC4}" destId="{4DBF9FC0-7F11-49D1-A13A-F9EF16035E78}" srcOrd="3" destOrd="0" parTransId="{716438C4-1259-4C94-B7A8-3756D5685E48}" sibTransId="{627790A7-E5AF-4DEF-9847-DE068ABD657B}"/>
    <dgm:cxn modelId="{4080A220-270D-4983-9037-6E5CDF28EF6D}" srcId="{4BE40EF7-4FDB-46DC-AD5C-7AA9927BCDC4}" destId="{3B57DE3A-D0CA-4A4A-A50B-01FBE031AA69}" srcOrd="4" destOrd="0" parTransId="{98FA3677-4FAE-4C5E-B3CE-CF3B6D80F4A1}" sibTransId="{D4875198-FB6C-46A1-9EC3-6A21426D178B}"/>
    <dgm:cxn modelId="{DFBD82CC-4E40-47EA-B3FB-1E53C7A07603}" type="presOf" srcId="{4BE40EF7-4FDB-46DC-AD5C-7AA9927BCDC4}" destId="{1623B4C5-2499-4637-B07C-6AE8AE2BD718}" srcOrd="0" destOrd="0" presId="urn:microsoft.com/office/officeart/2005/8/layout/bProcess3"/>
    <dgm:cxn modelId="{20CAD993-2400-4189-BD36-9FFFBA144FC1}" type="presParOf" srcId="{1623B4C5-2499-4637-B07C-6AE8AE2BD718}" destId="{2FBE2C1E-1D94-400F-A227-985D4DA10085}" srcOrd="0" destOrd="0" presId="urn:microsoft.com/office/officeart/2005/8/layout/bProcess3"/>
    <dgm:cxn modelId="{990B47A8-32C3-4934-8F06-86DCD1BCC306}" type="presOf" srcId="{79A907BE-6A57-46F9-949B-2F83975E5013}" destId="{2FBE2C1E-1D94-400F-A227-985D4DA10085}" srcOrd="0" destOrd="0" presId="urn:microsoft.com/office/officeart/2005/8/layout/bProcess3"/>
    <dgm:cxn modelId="{1CE3A4F4-D04E-4B46-8A1F-9D47B7CA9519}" type="presParOf" srcId="{1623B4C5-2499-4637-B07C-6AE8AE2BD718}" destId="{9F73252C-5345-45F1-A6FA-69E44781CCB0}" srcOrd="1" destOrd="0" presId="urn:microsoft.com/office/officeart/2005/8/layout/bProcess3"/>
    <dgm:cxn modelId="{6A75350B-3E57-40DF-A91E-0E26095BB888}" type="presOf" srcId="{6E764295-1C97-4A8A-BB23-8F6587B65D20}" destId="{9F73252C-5345-45F1-A6FA-69E44781CCB0}" srcOrd="0" destOrd="0" presId="urn:microsoft.com/office/officeart/2005/8/layout/bProcess3"/>
    <dgm:cxn modelId="{505B3A03-7157-46AC-A676-A2107621B9D9}" type="presParOf" srcId="{9F73252C-5345-45F1-A6FA-69E44781CCB0}" destId="{0A91809B-8299-4CB8-B3C9-28D901126CE1}" srcOrd="0" destOrd="1" presId="urn:microsoft.com/office/officeart/2005/8/layout/bProcess3"/>
    <dgm:cxn modelId="{5357AA2A-DA1D-4A0B-A84B-D8E00BA6B83F}" type="presOf" srcId="{6E764295-1C97-4A8A-BB23-8F6587B65D20}" destId="{0A91809B-8299-4CB8-B3C9-28D901126CE1}" srcOrd="1" destOrd="0" presId="urn:microsoft.com/office/officeart/2005/8/layout/bProcess3"/>
    <dgm:cxn modelId="{41B07878-7047-4D88-B37F-E8CD9802BE36}" type="presParOf" srcId="{1623B4C5-2499-4637-B07C-6AE8AE2BD718}" destId="{0482690C-586E-41D6-8B40-4CA7581A9CE9}" srcOrd="2" destOrd="0" presId="urn:microsoft.com/office/officeart/2005/8/layout/bProcess3"/>
    <dgm:cxn modelId="{EA12C074-456F-4A7A-8BD1-BA4C46F5AE02}" type="presOf" srcId="{047E9EF6-99D9-47D4-8421-7851F36A512F}" destId="{0482690C-586E-41D6-8B40-4CA7581A9CE9}" srcOrd="0" destOrd="0" presId="urn:microsoft.com/office/officeart/2005/8/layout/bProcess3"/>
    <dgm:cxn modelId="{EE9A51A1-88C6-42F9-A2DB-CA3DC5DFC16A}" type="presParOf" srcId="{1623B4C5-2499-4637-B07C-6AE8AE2BD718}" destId="{EBB69596-36AB-40F1-91C5-FC3350A00067}" srcOrd="3" destOrd="0" presId="urn:microsoft.com/office/officeart/2005/8/layout/bProcess3"/>
    <dgm:cxn modelId="{52A159AF-217C-4F0C-82EC-C69B5A40BA05}" type="presOf" srcId="{B3A60D08-4CF1-4AD3-A554-8DA1472F6362}" destId="{EBB69596-36AB-40F1-91C5-FC3350A00067}" srcOrd="0" destOrd="0" presId="urn:microsoft.com/office/officeart/2005/8/layout/bProcess3"/>
    <dgm:cxn modelId="{3BC71159-018C-41D7-9CFC-1665DF0E8154}" type="presParOf" srcId="{EBB69596-36AB-40F1-91C5-FC3350A00067}" destId="{9F0FF7A9-40E9-4C02-BFFF-6F0641C2389B}" srcOrd="0" destOrd="3" presId="urn:microsoft.com/office/officeart/2005/8/layout/bProcess3"/>
    <dgm:cxn modelId="{60225FF1-2F1A-4692-8296-74AF18DE6A85}" type="presOf" srcId="{B3A60D08-4CF1-4AD3-A554-8DA1472F6362}" destId="{9F0FF7A9-40E9-4C02-BFFF-6F0641C2389B}" srcOrd="1" destOrd="0" presId="urn:microsoft.com/office/officeart/2005/8/layout/bProcess3"/>
    <dgm:cxn modelId="{8B2B7690-79A7-4E38-A01E-25712616A6A6}" type="presParOf" srcId="{1623B4C5-2499-4637-B07C-6AE8AE2BD718}" destId="{E5145E43-B450-47CE-B1E5-1482BCF4071D}" srcOrd="4" destOrd="0" presId="urn:microsoft.com/office/officeart/2005/8/layout/bProcess3"/>
    <dgm:cxn modelId="{45C2B4B5-6205-455C-BDD7-2F4E102CAF2E}" type="presOf" srcId="{9B99C3CE-0550-4254-B164-BB9424E18E56}" destId="{E5145E43-B450-47CE-B1E5-1482BCF4071D}" srcOrd="0" destOrd="0" presId="urn:microsoft.com/office/officeart/2005/8/layout/bProcess3"/>
    <dgm:cxn modelId="{0BB3A5F3-B403-46A5-AFDE-F737D7E6E499}" type="presParOf" srcId="{1623B4C5-2499-4637-B07C-6AE8AE2BD718}" destId="{31F3FE5F-74B2-48F8-89DC-AE29DBB498B0}" srcOrd="5" destOrd="0" presId="urn:microsoft.com/office/officeart/2005/8/layout/bProcess3"/>
    <dgm:cxn modelId="{F278C10A-5C62-4CCC-8950-2FE85834FD07}" type="presOf" srcId="{C20DFEDB-A5DA-48B1-860C-C64E9FB9889D}" destId="{31F3FE5F-74B2-48F8-89DC-AE29DBB498B0}" srcOrd="0" destOrd="0" presId="urn:microsoft.com/office/officeart/2005/8/layout/bProcess3"/>
    <dgm:cxn modelId="{DA64F557-0572-48AC-88CF-231136A8343E}" type="presParOf" srcId="{31F3FE5F-74B2-48F8-89DC-AE29DBB498B0}" destId="{EF27A438-6BA1-43B2-9139-DBAF3CBBEF89}" srcOrd="0" destOrd="5" presId="urn:microsoft.com/office/officeart/2005/8/layout/bProcess3"/>
    <dgm:cxn modelId="{52E72CDE-0DA2-445F-9063-A54F7A8FA611}" type="presOf" srcId="{C20DFEDB-A5DA-48B1-860C-C64E9FB9889D}" destId="{EF27A438-6BA1-43B2-9139-DBAF3CBBEF89}" srcOrd="1" destOrd="0" presId="urn:microsoft.com/office/officeart/2005/8/layout/bProcess3"/>
    <dgm:cxn modelId="{2B72E7B0-31CA-45E5-9881-E72FE1C08507}" type="presParOf" srcId="{1623B4C5-2499-4637-B07C-6AE8AE2BD718}" destId="{13492D71-E670-42C9-A619-1DE9B5F887F1}" srcOrd="6" destOrd="0" presId="urn:microsoft.com/office/officeart/2005/8/layout/bProcess3"/>
    <dgm:cxn modelId="{AA4116C6-63B2-4252-89FB-E1E9022D6F90}" type="presOf" srcId="{4DBF9FC0-7F11-49D1-A13A-F9EF16035E78}" destId="{13492D71-E670-42C9-A619-1DE9B5F887F1}" srcOrd="0" destOrd="0" presId="urn:microsoft.com/office/officeart/2005/8/layout/bProcess3"/>
    <dgm:cxn modelId="{47F7DFBB-9946-4F94-8D3A-6598E67B786C}" type="presParOf" srcId="{1623B4C5-2499-4637-B07C-6AE8AE2BD718}" destId="{E85A6953-055C-454F-835D-7FF8096CA491}" srcOrd="7" destOrd="0" presId="urn:microsoft.com/office/officeart/2005/8/layout/bProcess3"/>
    <dgm:cxn modelId="{7E5F631D-C16A-46BC-9E11-D2B007465FD3}" type="presOf" srcId="{627790A7-E5AF-4DEF-9847-DE068ABD657B}" destId="{E85A6953-055C-454F-835D-7FF8096CA491}" srcOrd="0" destOrd="0" presId="urn:microsoft.com/office/officeart/2005/8/layout/bProcess3"/>
    <dgm:cxn modelId="{ACF7295E-92D0-46B0-8E75-1572EAD4E812}" type="presParOf" srcId="{E85A6953-055C-454F-835D-7FF8096CA491}" destId="{EB69ECB2-9BFD-4754-8113-1A1F7EFC836E}" srcOrd="0" destOrd="7" presId="urn:microsoft.com/office/officeart/2005/8/layout/bProcess3"/>
    <dgm:cxn modelId="{87697E78-FFD0-4413-A16E-20B7A2CEF02B}" type="presOf" srcId="{627790A7-E5AF-4DEF-9847-DE068ABD657B}" destId="{EB69ECB2-9BFD-4754-8113-1A1F7EFC836E}" srcOrd="1" destOrd="0" presId="urn:microsoft.com/office/officeart/2005/8/layout/bProcess3"/>
    <dgm:cxn modelId="{2F1519DD-550C-4DC1-B9F5-4D06E8EDED7A}" type="presParOf" srcId="{1623B4C5-2499-4637-B07C-6AE8AE2BD718}" destId="{F80816D7-392E-4741-B9A3-C73586F7EC67}" srcOrd="8" destOrd="0" presId="urn:microsoft.com/office/officeart/2005/8/layout/bProcess3"/>
    <dgm:cxn modelId="{C9744B4D-7059-4746-98E0-AA529BD66FD4}" type="presOf" srcId="{3B57DE3A-D0CA-4A4A-A50B-01FBE031AA69}" destId="{F80816D7-392E-4741-B9A3-C73586F7EC67}" srcOrd="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88325" cy="3340100"/>
        <a:chOff x="0" y="0"/>
        <a:chExt cx="8188325" cy="3340100"/>
      </a:xfrm>
    </dsp:grpSpPr>
    <dsp:sp modelId="{9F73252C-5345-45F1-A6FA-69E44781CCB0}">
      <dsp:nvSpPr>
        <dsp:cNvPr id="4" name="Freeform 3"/>
        <dsp:cNvSpPr/>
      </dsp:nvSpPr>
      <dsp:spPr bwMode="white">
        <a:xfrm>
          <a:off x="2389533" y="700809"/>
          <a:ext cx="537211" cy="0"/>
        </a:xfrm>
        <a:custGeom>
          <a:avLst/>
          <a:gdLst/>
          <a:ahLst/>
          <a:cxnLst/>
          <a:pathLst>
            <a:path w="846">
              <a:moveTo>
                <a:pt x="0" y="0"/>
              </a:moveTo>
              <a:lnTo>
                <a:pt x="846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5"/>
        </a:lnRef>
        <a:fillRef idx="0">
          <a:schemeClr val="accent5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2389533" y="700809"/>
        <a:ext cx="537211" cy="0"/>
      </dsp:txXfrm>
    </dsp:sp>
    <dsp:sp modelId="{2FBE2C1E-1D94-400F-A227-985D4DA10085}">
      <dsp:nvSpPr>
        <dsp:cNvPr id="3" name="Rectangles 2"/>
        <dsp:cNvSpPr/>
      </dsp:nvSpPr>
      <dsp:spPr bwMode="white">
        <a:xfrm>
          <a:off x="53831" y="98"/>
          <a:ext cx="2335702" cy="1401421"/>
        </a:xfrm>
        <a:prstGeom prst="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576" tIns="163576" rIns="163576" bIns="163576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 and Motivation</a:t>
          </a:r>
          <a:endParaRPr lang="en-US" altLang="zh-CN"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831" y="98"/>
        <a:ext cx="2335702" cy="1401421"/>
      </dsp:txXfrm>
    </dsp:sp>
    <dsp:sp modelId="{EBB69596-36AB-40F1-91C5-FC3350A00067}">
      <dsp:nvSpPr>
        <dsp:cNvPr id="6" name="Freeform 5"/>
        <dsp:cNvSpPr/>
      </dsp:nvSpPr>
      <dsp:spPr bwMode="white">
        <a:xfrm>
          <a:off x="5262446" y="700809"/>
          <a:ext cx="537211" cy="0"/>
        </a:xfrm>
        <a:custGeom>
          <a:avLst/>
          <a:gdLst/>
          <a:ahLst/>
          <a:cxnLst/>
          <a:pathLst>
            <a:path w="846">
              <a:moveTo>
                <a:pt x="0" y="0"/>
              </a:moveTo>
              <a:lnTo>
                <a:pt x="846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5"/>
        </a:lnRef>
        <a:fillRef idx="0">
          <a:schemeClr val="accent5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5262446" y="700809"/>
        <a:ext cx="537211" cy="0"/>
      </dsp:txXfrm>
    </dsp:sp>
    <dsp:sp modelId="{0482690C-586E-41D6-8B40-4CA7581A9CE9}">
      <dsp:nvSpPr>
        <dsp:cNvPr id="5" name="Rectangles 4"/>
        <dsp:cNvSpPr/>
      </dsp:nvSpPr>
      <dsp:spPr bwMode="white">
        <a:xfrm>
          <a:off x="2926744" y="98"/>
          <a:ext cx="2335702" cy="1401421"/>
        </a:xfrm>
        <a:prstGeom prst="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576" tIns="163576" rIns="163576" bIns="163576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Methods : Formulism and matRad </a:t>
          </a:r>
          <a:endParaRPr lang="en-US" altLang="zh-CN"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26744" y="98"/>
        <a:ext cx="2335702" cy="1401421"/>
      </dsp:txXfrm>
    </dsp:sp>
    <dsp:sp modelId="{31F3FE5F-74B2-48F8-89DC-AE29DBB498B0}">
      <dsp:nvSpPr>
        <dsp:cNvPr id="8" name="Freeform 7"/>
        <dsp:cNvSpPr/>
      </dsp:nvSpPr>
      <dsp:spPr bwMode="white">
        <a:xfrm>
          <a:off x="1221682" y="1401519"/>
          <a:ext cx="5745826" cy="537061"/>
        </a:xfrm>
        <a:custGeom>
          <a:avLst/>
          <a:gdLst/>
          <a:ahLst/>
          <a:cxnLst/>
          <a:pathLst>
            <a:path w="9049" h="846">
              <a:moveTo>
                <a:pt x="9049" y="0"/>
              </a:moveTo>
              <a:lnTo>
                <a:pt x="9049" y="423"/>
              </a:lnTo>
              <a:lnTo>
                <a:pt x="0" y="423"/>
              </a:lnTo>
              <a:lnTo>
                <a:pt x="0" y="846"/>
              </a:lnTo>
            </a:path>
          </a:pathLst>
        </a:custGeom>
        <a:ln>
          <a:tailEnd type="arrow" w="lg" len="med"/>
        </a:ln>
      </dsp:spPr>
      <dsp:style>
        <a:lnRef idx="1">
          <a:schemeClr val="accent5"/>
        </a:lnRef>
        <a:fillRef idx="0">
          <a:schemeClr val="accent5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34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1221682" y="1401519"/>
        <a:ext cx="5745826" cy="537061"/>
      </dsp:txXfrm>
    </dsp:sp>
    <dsp:sp modelId="{E5145E43-B450-47CE-B1E5-1482BCF4071D}">
      <dsp:nvSpPr>
        <dsp:cNvPr id="7" name="Rectangles 6"/>
        <dsp:cNvSpPr/>
      </dsp:nvSpPr>
      <dsp:spPr bwMode="white">
        <a:xfrm>
          <a:off x="5799657" y="98"/>
          <a:ext cx="2335702" cy="1401421"/>
        </a:xfrm>
        <a:prstGeom prst="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576" tIns="163576" rIns="163576" bIns="163576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Results</a:t>
          </a:r>
          <a:endParaRPr lang="en-US" altLang="zh-CN"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99657" y="98"/>
        <a:ext cx="2335702" cy="1401421"/>
      </dsp:txXfrm>
    </dsp:sp>
    <dsp:sp modelId="{E85A6953-055C-454F-835D-7FF8096CA491}">
      <dsp:nvSpPr>
        <dsp:cNvPr id="10" name="Freeform 9"/>
        <dsp:cNvSpPr/>
      </dsp:nvSpPr>
      <dsp:spPr bwMode="white">
        <a:xfrm>
          <a:off x="2389533" y="2639291"/>
          <a:ext cx="537211" cy="0"/>
        </a:xfrm>
        <a:custGeom>
          <a:avLst/>
          <a:gdLst/>
          <a:ahLst/>
          <a:cxnLst/>
          <a:pathLst>
            <a:path w="846">
              <a:moveTo>
                <a:pt x="0" y="0"/>
              </a:moveTo>
              <a:lnTo>
                <a:pt x="846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5"/>
        </a:lnRef>
        <a:fillRef idx="0">
          <a:schemeClr val="accent5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2389533" y="2639291"/>
        <a:ext cx="537211" cy="0"/>
      </dsp:txXfrm>
    </dsp:sp>
    <dsp:sp modelId="{13492D71-E670-42C9-A619-1DE9B5F887F1}">
      <dsp:nvSpPr>
        <dsp:cNvPr id="9" name="Rectangles 8"/>
        <dsp:cNvSpPr/>
      </dsp:nvSpPr>
      <dsp:spPr bwMode="white">
        <a:xfrm>
          <a:off x="53831" y="1938581"/>
          <a:ext cx="2335702" cy="1401421"/>
        </a:xfrm>
        <a:prstGeom prst="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576" tIns="163576" rIns="163576" bIns="163576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Discussions and </a:t>
          </a:r>
          <a:r>
            <a:rPr lang="en-US" altLang="zh-CN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Conclusions</a:t>
          </a:r>
          <a:endParaRPr lang="en-US" altLang="zh-CN"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831" y="1938581"/>
        <a:ext cx="2335702" cy="1401421"/>
      </dsp:txXfrm>
    </dsp:sp>
    <dsp:sp modelId="{F80816D7-392E-4741-B9A3-C73586F7EC67}">
      <dsp:nvSpPr>
        <dsp:cNvPr id="11" name="Rectangles 10"/>
        <dsp:cNvSpPr/>
      </dsp:nvSpPr>
      <dsp:spPr bwMode="white">
        <a:xfrm>
          <a:off x="2926744" y="1938581"/>
          <a:ext cx="2335702" cy="1401421"/>
        </a:xfrm>
        <a:prstGeom prst="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576" tIns="163576" rIns="163576" bIns="163576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Future Works</a:t>
          </a:r>
          <a:endParaRPr lang="en-US" altLang="zh-CN">
            <a:solidFill>
              <a:schemeClr val="dk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26744" y="1938581"/>
        <a:ext cx="2335702" cy="14014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D491F-69B6-46C0-826F-6283A6C22E0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49611C-B929-40B2-8A9E-D0C4B40103B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F7EBA8A-5DE8-4AAE-87FE-8D03C68C392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Muhammad Sufyan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0E5E395-25C3-4824-9B56-3631678442F4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66E2-F8E0-4F94-BFB9-5EF12BC658C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B599-3FBA-4D37-9E88-FA4DF3C9CF3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CD-3917-4C0F-90B1-E3A076D80B68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12A6-2A3A-4F6F-B231-A1C186773E5E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C9A0-439D-4866-981A-DE3C55FF425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Muhammad Sufyan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2DBF0F6-A040-4FE1-AD5F-4080D99107C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Muhammad Sufyan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670C-9FC2-4B5A-982D-47704A596EE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0B53-FD33-4A62-A134-2FD2448360B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3C89-EB6C-4631-8C7A-B46C169D76A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BA8A-5DE8-4AAE-87FE-8D03C68C392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Muhammad Sufyan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387985" y="169545"/>
            <a:ext cx="2507615" cy="87185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rcRect t="10864" b="10173"/>
          <a:stretch>
            <a:fillRect/>
          </a:stretch>
        </p:blipFill>
        <p:spPr>
          <a:xfrm>
            <a:off x="10056495" y="169545"/>
            <a:ext cx="1719580" cy="87185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rcRect t="14281" b="12296"/>
          <a:stretch>
            <a:fillRect/>
          </a:stretch>
        </p:blipFill>
        <p:spPr>
          <a:xfrm>
            <a:off x="5528945" y="170180"/>
            <a:ext cx="1133475" cy="87122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66E2-F8E0-4F94-BFB9-5EF12BC658C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9B599-3FBA-4D37-9E88-FA4DF3C9CF3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CD-3917-4C0F-90B1-E3A076D80B68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12A6-2A3A-4F6F-B231-A1C186773E5E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C9A0-439D-4866-981A-DE3C55FF425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Muhammad Sufyan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2DBF0F6-A040-4FE1-AD5F-4080D99107C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Muhammad Sufyan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670C-9FC2-4B5A-982D-47704A596EE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0B53-FD33-4A62-A134-2FD2448360B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C3C89-EB6C-4631-8C7A-B46C169D76A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Muhammad Sufyan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5" Type="http://schemas.openxmlformats.org/officeDocument/2006/relationships/image" Target="../media/image4.png"/><Relationship Id="rId14" Type="http://schemas.openxmlformats.org/officeDocument/2006/relationships/image" Target="../media/image5.png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DBB154E-40BB-465F-8440-5922AF55F614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0E5E395-25C3-4824-9B56-3631678442F4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DBB154E-40BB-465F-8440-5922AF55F61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Muhammad Sufyan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0E5E395-25C3-4824-9B56-3631678442F4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/>
          <p:nvPr userDrawn="1"/>
        </p:nvPicPr>
        <p:blipFill>
          <a:blip r:embed="rId13"/>
          <a:stretch>
            <a:fillRect/>
          </a:stretch>
        </p:blipFill>
        <p:spPr>
          <a:xfrm>
            <a:off x="387985" y="169545"/>
            <a:ext cx="2468880" cy="733425"/>
          </a:xfrm>
          <a:prstGeom prst="rect">
            <a:avLst/>
          </a:prstGeom>
        </p:spPr>
      </p:pic>
      <p:pic>
        <p:nvPicPr>
          <p:cNvPr id="11" name="Picture 10"/>
          <p:cNvPicPr/>
          <p:nvPr userDrawn="1"/>
        </p:nvPicPr>
        <p:blipFill>
          <a:blip r:embed="rId14"/>
          <a:srcRect t="14281" b="12296"/>
          <a:stretch>
            <a:fillRect/>
          </a:stretch>
        </p:blipFill>
        <p:spPr>
          <a:xfrm>
            <a:off x="5528945" y="170180"/>
            <a:ext cx="1133475" cy="871220"/>
          </a:xfrm>
          <a:prstGeom prst="rect">
            <a:avLst/>
          </a:prstGeom>
        </p:spPr>
      </p:pic>
      <p:pic>
        <p:nvPicPr>
          <p:cNvPr id="12" name="Picture 11"/>
          <p:cNvPicPr/>
          <p:nvPr userDrawn="1"/>
        </p:nvPicPr>
        <p:blipFill>
          <a:blip r:embed="rId15"/>
          <a:srcRect t="10864" b="10173"/>
          <a:stretch>
            <a:fillRect/>
          </a:stretch>
        </p:blipFill>
        <p:spPr>
          <a:xfrm>
            <a:off x="10056495" y="169545"/>
            <a:ext cx="1719580" cy="8718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4.png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7.png"/><Relationship Id="rId10" Type="http://schemas.openxmlformats.org/officeDocument/2006/relationships/image" Target="../media/image12.pn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825"/>
            <a:ext cx="10114915" cy="3566160"/>
          </a:xfrm>
        </p:spPr>
        <p:txBody>
          <a:bodyPr>
            <a:normAutofit/>
          </a:bodyPr>
          <a:lstStyle/>
          <a:p>
            <a:pPr algn="ctr"/>
            <a:r>
              <a:rPr lang="en-US" altLang="en-GB" sz="3600" b="1" dirty="0">
                <a:solidFill>
                  <a:srgbClr val="FF0000"/>
                </a:solidFill>
                <a:ea typeface="Calibri Light" panose="020F0302020204030204" pitchFamily="34" charset="-122"/>
                <a:sym typeface="+mn-ea"/>
              </a:rPr>
              <a:t>Tumour Geometric Complexity: </a:t>
            </a:r>
            <a:r>
              <a:rPr lang="en-US" altLang="en-GB" sz="3600" b="1" dirty="0">
                <a:solidFill>
                  <a:schemeClr val="tx1"/>
                </a:solidFill>
                <a:ea typeface="Calibri Light" panose="020F0302020204030204" pitchFamily="34" charset="-122"/>
                <a:sym typeface="+mn-ea"/>
              </a:rPr>
              <a:t>A Proof of Concept Towards</a:t>
            </a:r>
            <a:r>
              <a:rPr lang="en-US" altLang="en-GB" sz="3600" b="1" dirty="0">
                <a:solidFill>
                  <a:srgbClr val="FF0000"/>
                </a:solidFill>
                <a:ea typeface="Calibri Light" panose="020F0302020204030204" pitchFamily="34" charset="-122"/>
                <a:sym typeface="+mn-ea"/>
              </a:rPr>
              <a:t> Explainable Quality Assurance </a:t>
            </a:r>
            <a:r>
              <a:rPr lang="en-US" altLang="en-GB" sz="3600" b="1" dirty="0">
                <a:solidFill>
                  <a:schemeClr val="tx1"/>
                </a:solidFill>
                <a:ea typeface="Calibri Light" panose="020F0302020204030204" pitchFamily="34" charset="-122"/>
                <a:sym typeface="+mn-ea"/>
              </a:rPr>
              <a:t>in Radiotherapy Trials</a:t>
            </a:r>
            <a:endParaRPr lang="en-US" altLang="en-GB" sz="3600" b="1" dirty="0">
              <a:solidFill>
                <a:schemeClr val="tx1"/>
              </a:solidFill>
              <a:ea typeface="Calibri Light" panose="020F0302020204030204" pitchFamily="34" charset="-122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cap="none" spc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Dr. Juliette Thariat</a:t>
            </a:r>
            <a:endParaRPr lang="en-US" cap="none" spc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cap="none" spc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Sufyan</a:t>
            </a:r>
            <a:endParaRPr lang="en-US" cap="none" spc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5647-6C7E-4381-BA97-86EDB4C5207A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 dirty="0"/>
          </a:p>
        </p:txBody>
      </p:sp>
      <p:graphicFrame>
        <p:nvGraphicFramePr>
          <p:cNvPr id="6" name="Table 5"/>
          <p:cNvGraphicFramePr/>
          <p:nvPr/>
        </p:nvGraphicFramePr>
        <p:xfrm>
          <a:off x="853440" y="3291840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853440" y="3291840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" name="Picture 11" descr="LPC_CAEN_LOGO-removebg-preview"/>
          <p:cNvPicPr>
            <a:picLocks noChangeAspect="1"/>
          </p:cNvPicPr>
          <p:nvPr/>
        </p:nvPicPr>
        <p:blipFill>
          <a:blip r:embed="rId1"/>
          <a:srcRect l="4843" t="15510" b="13941"/>
          <a:stretch>
            <a:fillRect/>
          </a:stretch>
        </p:blipFill>
        <p:spPr>
          <a:xfrm>
            <a:off x="5074920" y="306705"/>
            <a:ext cx="1379220" cy="1022350"/>
          </a:xfrm>
          <a:prstGeom prst="rect">
            <a:avLst/>
          </a:prstGeom>
        </p:spPr>
      </p:pic>
      <p:pic>
        <p:nvPicPr>
          <p:cNvPr id="13" name="Picture 12" descr="immagine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180" y="395605"/>
            <a:ext cx="2533015" cy="844550"/>
          </a:xfrm>
          <a:prstGeom prst="rect">
            <a:avLst/>
          </a:prstGeom>
        </p:spPr>
      </p:pic>
      <p:pic>
        <p:nvPicPr>
          <p:cNvPr id="14" name="Picture 13" descr="immagine-removebg-preview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" y="395605"/>
            <a:ext cx="1920875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A Bird’s Eye View </a:t>
            </a:r>
            <a:endParaRPr lang="en-US" altLang="en-GB"/>
          </a:p>
        </p:txBody>
      </p:sp>
      <p:graphicFrame>
        <p:nvGraphicFramePr>
          <p:cNvPr id="10" name="Content Placeholder 9"/>
          <p:cNvGraphicFramePr/>
          <p:nvPr>
            <p:ph idx="1"/>
          </p:nvPr>
        </p:nvGraphicFramePr>
        <p:xfrm>
          <a:off x="2152650" y="2178050"/>
          <a:ext cx="8188325" cy="334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60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Motivation</a:t>
            </a:r>
            <a:endParaRPr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sz="1500">
                <a:solidFill>
                  <a:srgbClr val="555555"/>
                </a:solidFill>
                <a:latin typeface="Times New Roman" panose="02020603050405020304"/>
              </a:rPr>
              <a:t>Radiotherapy, clinical trials, and the limits of quality assurance</a:t>
            </a:r>
            <a:endParaRPr sz="1500">
              <a:solidFill>
                <a:srgbClr val="555555"/>
              </a:solidFill>
              <a:latin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BEF66E2-F8E0-4F94-BFB9-5EF12BC658C9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p>
            <a:r>
              <a:rPr lang="en-US" altLang="en-GB" sz="3000">
                <a:solidFill>
                  <a:srgbClr val="333333"/>
                </a:solidFill>
                <a:latin typeface="Times New Roman" panose="02020603050405020304"/>
              </a:rPr>
              <a:t>Radiotherapy and where Clinical Trials Fit</a:t>
            </a:r>
            <a:endParaRPr lang="en-US" altLang="en-GB"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945"/>
            <a:ext cx="5915660" cy="4438015"/>
          </a:xfrm>
        </p:spPr>
        <p:txBody>
          <a:bodyPr>
            <a:noAutofit/>
          </a:bodyPr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o"/>
            </a:pPr>
            <a:r>
              <a:rPr lang="en-US" sz="1800">
                <a:solidFill>
                  <a:srgbClr val="333333"/>
                </a:solidFill>
                <a:latin typeface="Times New Roman" panose="02020603050405020304"/>
                <a:sym typeface="+mn-ea"/>
              </a:rPr>
              <a:t> </a:t>
            </a:r>
            <a:r>
              <a:rPr sz="1800">
                <a:solidFill>
                  <a:srgbClr val="333333"/>
                </a:solidFill>
                <a:latin typeface="Times New Roman" panose="02020603050405020304"/>
                <a:sym typeface="+mn-ea"/>
              </a:rPr>
              <a:t>Radiotherapy treats about 50% of cancer patients — a high dose to the tumour, sparing nearby healthy tissue.</a:t>
            </a:r>
            <a:endParaRPr sz="18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o"/>
            </a:pPr>
            <a:r>
              <a:rPr lang="en-US" sz="1800">
                <a:solidFill>
                  <a:srgbClr val="333333"/>
                </a:solidFill>
                <a:latin typeface="Times New Roman" panose="02020603050405020304"/>
                <a:sym typeface="+mn-ea"/>
              </a:rPr>
              <a:t> </a:t>
            </a:r>
            <a:r>
              <a:rPr sz="1800">
                <a:solidFill>
                  <a:srgbClr val="333333"/>
                </a:solidFill>
                <a:latin typeface="Times New Roman" panose="02020603050405020304"/>
                <a:sym typeface="+mn-ea"/>
              </a:rPr>
              <a:t>New techniques reach patients through large multicentre clinical trials.</a:t>
            </a:r>
            <a:endParaRPr sz="18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o"/>
            </a:pPr>
            <a:r>
              <a:rPr lang="en-US" sz="1800">
                <a:solidFill>
                  <a:srgbClr val="333333"/>
                </a:solidFill>
                <a:latin typeface="Times New Roman" panose="02020603050405020304"/>
                <a:sym typeface="+mn-ea"/>
              </a:rPr>
              <a:t> </a:t>
            </a:r>
            <a:r>
              <a:rPr sz="1800">
                <a:solidFill>
                  <a:srgbClr val="333333"/>
                </a:solidFill>
                <a:latin typeface="Times New Roman" panose="02020603050405020304"/>
                <a:sym typeface="+mn-ea"/>
              </a:rPr>
              <a:t>Quality assurance (QA) = the checks that each plan meets the trial protocol (centre credentialling + plan review).</a:t>
            </a:r>
            <a:endParaRPr sz="18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o"/>
            </a:pPr>
            <a:r>
              <a:rPr lang="en-US" sz="1800">
                <a:solidFill>
                  <a:srgbClr val="333333"/>
                </a:solidFill>
                <a:latin typeface="Times New Roman" panose="02020603050405020304"/>
                <a:sym typeface="+mn-ea"/>
              </a:rPr>
              <a:t> </a:t>
            </a:r>
            <a:r>
              <a:rPr sz="1800">
                <a:solidFill>
                  <a:srgbClr val="333333"/>
                </a:solidFill>
                <a:latin typeface="Times New Roman" panose="02020603050405020304"/>
                <a:sym typeface="+mn-ea"/>
              </a:rPr>
              <a:t>It matters clinically: in the head-and-neck trial TROG 02.02, major plan deficiencies roughly halved two-year survival (≈50% vs 70%).</a:t>
            </a:r>
            <a:endParaRPr lang="en-US" altLang="en-GB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pic>
        <p:nvPicPr>
          <p:cNvPr id="7" name="Picture 6" descr="67b25f40d86fe87336e2e1fd_Does Radiation Therapy Harm Those Around the Patient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0120" y="2023745"/>
            <a:ext cx="3845560" cy="3845560"/>
          </a:xfrm>
          <a:prstGeom prst="rect">
            <a:avLst/>
          </a:prstGeom>
        </p:spPr>
      </p:pic>
      <p:grpSp>
        <p:nvGrpSpPr>
          <p:cNvPr id="36" name="Group 35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30" name="Group 29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24" name="Group 23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9" name="Straight Connector 1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Rounded Rectangle 24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6" name="Rounded Rectangle 25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7" name="Rounded Rectangle 26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8" name="Rounded Rectangle 27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9" name="Rounded Rectangle 28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1" name="Text Box 30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31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32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33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34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2529840" y="6459855"/>
            <a:ext cx="7193915" cy="30670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sz="1400" i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Peters et al., J Clin Oncol28(18):2996–3001, 2010 (TROG 02.02)</a:t>
            </a:r>
            <a:endParaRPr sz="1400" i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z="3000" dirty="0">
                <a:solidFill>
                  <a:srgbClr val="333333"/>
                </a:solidFill>
                <a:latin typeface="Times New Roman" panose="02020603050405020304"/>
                <a:sym typeface="+mn-ea"/>
              </a:rPr>
              <a:t>Its Limitations</a:t>
            </a:r>
            <a:endParaRPr lang="en-US" sz="4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FE4F-38C5-48DC-97F7-5121A1634B6C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141634"/>
            <a:ext cx="4558030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Current QA only gives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two classes: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Pass / Fail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a plan is flagged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It could be due to: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Poor or suboptimal planning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Intrinsic complexity of the patient anatomy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223010" y="4476115"/>
            <a:ext cx="4382135" cy="1446530"/>
            <a:chOff x="2575868" y="3193820"/>
            <a:chExt cx="5703751" cy="2048719"/>
          </a:xfrm>
        </p:grpSpPr>
        <p:sp>
          <p:nvSpPr>
            <p:cNvPr id="8" name="Rectangle 7"/>
            <p:cNvSpPr/>
            <p:nvPr/>
          </p:nvSpPr>
          <p:spPr>
            <a:xfrm>
              <a:off x="5026749" y="3940388"/>
              <a:ext cx="803585" cy="5555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FAIL </a:t>
              </a:r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6176226" y="3193820"/>
              <a:ext cx="2103393" cy="2048719"/>
            </a:xfrm>
            <a:prstGeom prst="ellipse">
              <a:avLst/>
            </a:prstGeom>
            <a:blipFill dpi="0"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575868" y="3193820"/>
              <a:ext cx="2105123" cy="2048719"/>
            </a:xfrm>
            <a:prstGeom prst="ellipse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8" idx="1"/>
              <a:endCxn id="10" idx="6"/>
            </p:cNvCxnSpPr>
            <p:nvPr/>
          </p:nvCxnSpPr>
          <p:spPr>
            <a:xfrm flipH="1">
              <a:off x="4681267" y="4218180"/>
              <a:ext cx="3454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8" idx="3"/>
            </p:cNvCxnSpPr>
            <p:nvPr/>
          </p:nvCxnSpPr>
          <p:spPr>
            <a:xfrm>
              <a:off x="5830334" y="4218180"/>
              <a:ext cx="35922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 Box 2"/>
          <p:cNvSpPr txBox="1"/>
          <p:nvPr/>
        </p:nvSpPr>
        <p:spPr>
          <a:xfrm>
            <a:off x="6240780" y="2141855"/>
            <a:ext cx="50965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Manual, time consuming and </a:t>
            </a:r>
            <a:r>
              <a:rPr lang="en-US" altLang="en-US" b="1" dirty="0">
                <a:ln>
                  <a:noFill/>
                </a:ln>
                <a:effectLst/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expert-dependent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Inter-center variability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 evaluation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Clinical history 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the patient is not taken into account most of the times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Not easily </a:t>
            </a: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scalable or manageable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101080" y="2152650"/>
            <a:ext cx="4445" cy="340804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3105785" y="59766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Quantify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→ Integrate → Automate</a:t>
            </a: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17" name="Group 1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18" name="Group 1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37" name="Straight Connector 36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Rounded Rectangle 41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3" name="Rounded Rectangle 42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4" name="Rounded Rectangle 43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5" name="Rounded Rectangle 44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6" name="Rounded Rectangle 45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47" name="Text Box 46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47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Box 48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 Box 49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50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p>
            <a:r>
              <a:rPr lang="en-US" altLang="en-GB" sz="3000">
                <a:solidFill>
                  <a:srgbClr val="333333"/>
                </a:solidFill>
                <a:latin typeface="Times New Roman" panose="02020603050405020304"/>
              </a:rPr>
              <a:t>Objectives of the Thesis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GB"/>
              <a:t>Propose a contour-only geometric descriptor of tumour geometric complexity, the </a:t>
            </a:r>
            <a:r>
              <a:rPr lang="en-US" altLang="en-GB" b="1"/>
              <a:t>Geometric Volume Coefficient</a:t>
            </a:r>
            <a:r>
              <a:rPr lang="en-US" altLang="en-GB"/>
              <a:t> (GVC), so that a QA verdict can separate poor planning from intrinsic anatomical difficulty</a:t>
            </a:r>
            <a:endParaRPr lang="en-US" altLang="en-GB"/>
          </a:p>
          <a:p>
            <a:pPr>
              <a:lnSpc>
                <a:spcPct val="150000"/>
              </a:lnSpc>
            </a:pPr>
            <a:r>
              <a:rPr lang="en-US" altLang="en-GB"/>
              <a:t>     - Formulate the descriptor from tumour and organ contours alone, with no dose input</a:t>
            </a:r>
            <a:endParaRPr lang="en-US" altLang="en-GB"/>
          </a:p>
          <a:p>
            <a:pPr>
              <a:lnSpc>
                <a:spcPct val="150000"/>
              </a:lnSpc>
            </a:pPr>
            <a:r>
              <a:rPr lang="en-US" altLang="en-GB"/>
              <a:t>     - Test, as a proof of concept, whether it tracks delivered-dose difficulty across four modalities,</a:t>
            </a:r>
            <a:endParaRPr lang="en-US" altLang="en-GB"/>
          </a:p>
          <a:p>
            <a:pPr>
              <a:lnSpc>
                <a:spcPct val="150000"/>
              </a:lnSpc>
            </a:pPr>
            <a:r>
              <a:rPr lang="en-US" altLang="en-GB"/>
              <a:t>       </a:t>
            </a:r>
            <a:r>
              <a:rPr lang="en-US" altLang="en-GB">
                <a:sym typeface="+mn-ea"/>
              </a:rPr>
              <a:t>enabling a four-class verdict in place of pass/fail</a:t>
            </a:r>
            <a:endParaRPr lang="en-US" altLang="en-GB"/>
          </a:p>
          <a:p>
            <a:pPr>
              <a:lnSpc>
                <a:spcPct val="150000"/>
              </a:lnSpc>
            </a:pPr>
            <a:r>
              <a:rPr lang="en-US" altLang="en-GB"/>
              <a:t>                      </a:t>
            </a:r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600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500">
                <a:solidFill>
                  <a:srgbClr val="555555"/>
                </a:solidFill>
                <a:latin typeface="Times New Roman" panose="02020603050405020304"/>
              </a:rPr>
              <a:t>The Geometric Volume Coefficient, and the planning study that tests it</a:t>
            </a:r>
            <a:endParaRPr sz="1500">
              <a:solidFill>
                <a:srgbClr val="555555"/>
              </a:solidFill>
              <a:latin typeface="Times New Roman" panose="02020603050405020304"/>
            </a:endParaRP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387985" y="306705"/>
            <a:ext cx="11388090" cy="871855"/>
            <a:chOff x="611" y="267"/>
            <a:chExt cx="17934" cy="1373"/>
          </a:xfrm>
        </p:grpSpPr>
        <p:pic>
          <p:nvPicPr>
            <p:cNvPr id="4" name="Picture 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611" y="267"/>
              <a:ext cx="3949" cy="1373"/>
            </a:xfrm>
            <a:prstGeom prst="rect">
              <a:avLst/>
            </a:prstGeom>
          </p:spPr>
        </p:pic>
        <p:pic>
          <p:nvPicPr>
            <p:cNvPr id="8" name="Picture 7"/>
            <p:cNvPicPr/>
            <p:nvPr/>
          </p:nvPicPr>
          <p:blipFill>
            <a:blip r:embed="rId2"/>
            <a:srcRect t="10864" b="10173"/>
            <a:stretch>
              <a:fillRect/>
            </a:stretch>
          </p:blipFill>
          <p:spPr>
            <a:xfrm>
              <a:off x="15837" y="267"/>
              <a:ext cx="2708" cy="1373"/>
            </a:xfrm>
            <a:prstGeom prst="rect">
              <a:avLst/>
            </a:prstGeom>
          </p:spPr>
        </p:pic>
        <p:pic>
          <p:nvPicPr>
            <p:cNvPr id="9" name="Picture 8"/>
            <p:cNvPicPr/>
            <p:nvPr/>
          </p:nvPicPr>
          <p:blipFill>
            <a:blip r:embed="rId3"/>
            <a:srcRect t="14281" b="12296"/>
            <a:stretch>
              <a:fillRect/>
            </a:stretch>
          </p:blipFill>
          <p:spPr>
            <a:xfrm>
              <a:off x="8707" y="268"/>
              <a:ext cx="1785" cy="1372"/>
            </a:xfrm>
            <a:prstGeom prst="rect">
              <a:avLst/>
            </a:prstGeom>
          </p:spPr>
        </p:pic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BEF66E2-F8E0-4F94-BFB9-5EF12BC658C9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  <a:sym typeface="+mn-ea"/>
              </a:rPr>
              <a:t>Prior Work → Our </a:t>
            </a:r>
            <a:r>
              <a:rPr lang="en-US" sz="3000">
                <a:solidFill>
                  <a:srgbClr val="333333"/>
                </a:solidFill>
                <a:latin typeface="Times New Roman" panose="02020603050405020304"/>
                <a:sym typeface="+mn-ea"/>
              </a:rPr>
              <a:t>Proposed </a:t>
            </a:r>
            <a:r>
              <a:rPr sz="3000">
                <a:solidFill>
                  <a:srgbClr val="333333"/>
                </a:solidFill>
                <a:latin typeface="Times New Roman" panose="02020603050405020304"/>
                <a:sym typeface="+mn-ea"/>
              </a:rPr>
              <a:t>Contour-Only Descriptor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977390"/>
            <a:ext cx="10241280" cy="2659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Prior work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the target–organ relation as a histogram (Kazhdan 2009; Zhu 2011; Yuan 2012). </a:t>
            </a:r>
            <a:r>
              <a:rPr lang="en-US" altLang="en-US">
                <a:solidFill>
                  <a:srgbClr val="333333"/>
                </a:solidFill>
                <a:latin typeface="Times New Roman" panose="02020603050405020304"/>
              </a:rPr>
              <a:t>Ö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zer et al. 2023 showed proximity predicts case difficulty, using non-standard planning structures.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Our step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quantify </a:t>
            </a:r>
            <a:r>
              <a:rPr lang="en-US" altLang="en-GB" u="sng">
                <a:solidFill>
                  <a:srgbClr val="333333"/>
                </a:solidFill>
                <a:latin typeface="Times New Roman" panose="02020603050405020304"/>
              </a:rPr>
              <a:t>Tumour Geometric Complexity (TGC)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: how hard a case is from anatomy alone,  through a contour-only descriptor, the </a:t>
            </a:r>
            <a:r>
              <a:rPr lang="en-US" altLang="en-GB" u="sng">
                <a:solidFill>
                  <a:srgbClr val="333333"/>
                </a:solidFill>
                <a:latin typeface="Times New Roman" panose="02020603050405020304"/>
              </a:rPr>
              <a:t>Geometric Volume Coefficient (GVC)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, needing no plan.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o"/>
            </a:pPr>
            <a:r>
              <a:rPr lang="en-US">
                <a:solidFill>
                  <a:srgbClr val="333333"/>
                </a:solidFill>
                <a:latin typeface="Times New Roman" panose="02020603050405020304"/>
                <a:sym typeface="+mn-ea"/>
              </a:rPr>
              <a:t> </a:t>
            </a:r>
            <a:r>
              <a:rPr>
                <a:solidFill>
                  <a:srgbClr val="333333"/>
                </a:solidFill>
                <a:latin typeface="Times New Roman" panose="02020603050405020304"/>
                <a:sym typeface="+mn-ea"/>
              </a:rPr>
              <a:t>It splits each organ by distance into three zones: overlap (inside the target) · near-compression (within the dose fall-off) · separation (safe).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Rounded Rectangle 14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6" name="Rounded Rectangle 15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 Box 24"/>
          <p:cNvSpPr txBox="1"/>
          <p:nvPr/>
        </p:nvSpPr>
        <p:spPr>
          <a:xfrm>
            <a:off x="2468245" y="6397625"/>
            <a:ext cx="73577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200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Özgür et al., Radiotherapy &amp; Oncology 2023; doi:10.1016/j.radonc.2023.109895.</a:t>
            </a:r>
            <a:endParaRPr lang="en-US" sz="1200" i="1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altLang="en-GB" sz="1200" i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Kazhdan 2009 · Zhu 2011 · Yuan 2012 </a:t>
            </a:r>
            <a:endParaRPr lang="en-US" altLang="en-GB" sz="1200" i="1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1005840" y="5760085"/>
            <a:ext cx="10241280" cy="594995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lang="en-US" altLang="en-GB" sz="1000" i="1">
                <a:solidFill>
                  <a:srgbClr val="505050"/>
                </a:solidFill>
                <a:latin typeface="Times New Roman" panose="02020603050405020304"/>
                <a:sym typeface="+mn-ea"/>
              </a:rPr>
              <a:t>TGC : tumour geometric complexity: how hard a case is, from the anatomy alone</a:t>
            </a:r>
            <a:endParaRPr lang="en-US" altLang="en-GB" sz="1000" i="1">
              <a:solidFill>
                <a:srgbClr val="505050"/>
              </a:solidFill>
              <a:latin typeface="Times New Roman" panose="02020603050405020304"/>
            </a:endParaRPr>
          </a:p>
          <a:p>
            <a:pPr algn="l"/>
            <a:endParaRPr sz="1000" i="1">
              <a:solidFill>
                <a:srgbClr val="505050"/>
              </a:solidFill>
              <a:latin typeface="Times New Roman" panose="02020603050405020304"/>
            </a:endParaRPr>
          </a:p>
          <a:p>
            <a:pPr algn="l"/>
            <a:r>
              <a:rPr sz="1000" i="1">
                <a:solidFill>
                  <a:srgbClr val="505050"/>
                </a:solidFill>
                <a:latin typeface="Times New Roman" panose="02020603050405020304"/>
              </a:rPr>
              <a:t>GVC </a:t>
            </a:r>
            <a:r>
              <a:rPr lang="en-US" sz="1000" i="1">
                <a:solidFill>
                  <a:srgbClr val="505050"/>
                </a:solidFill>
                <a:latin typeface="Times New Roman" panose="02020603050405020304"/>
              </a:rPr>
              <a:t>:</a:t>
            </a:r>
            <a:r>
              <a:rPr sz="1000" i="1">
                <a:solidFill>
                  <a:srgbClr val="505050"/>
                </a:solidFill>
                <a:latin typeface="Times New Roman" panose="02020603050405020304"/>
              </a:rPr>
              <a:t> geometric volume coefficient</a:t>
            </a:r>
            <a:r>
              <a:rPr lang="en-US" sz="1000" i="1">
                <a:solidFill>
                  <a:srgbClr val="505050"/>
                </a:solidFill>
                <a:latin typeface="Times New Roman" panose="02020603050405020304"/>
              </a:rPr>
              <a:t> : </a:t>
            </a:r>
            <a:r>
              <a:rPr lang="en-US" altLang="en-GB" sz="1000" i="1">
                <a:solidFill>
                  <a:schemeClr val="tx1"/>
                </a:solidFill>
                <a:sym typeface="+mn-ea"/>
              </a:rPr>
              <a:t>a contour-only score from these fractions. Higher means more of the organ sits in trouble.</a:t>
            </a:r>
            <a:endParaRPr sz="1000" i="1">
              <a:solidFill>
                <a:schemeClr val="tx1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p>
            <a:r>
              <a:rPr lang="en-US" altLang="en-GB" sz="3000">
                <a:solidFill>
                  <a:srgbClr val="333333"/>
                </a:solidFill>
                <a:latin typeface="Times New Roman" panose="02020603050405020304"/>
              </a:rPr>
              <a:t>Design Requirements for the Descriptor</a:t>
            </a:r>
            <a:endParaRPr lang="en-US" altLang="en-GB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lnSpc>
                <a:spcPct val="150000"/>
              </a:lnSpc>
            </a:pPr>
            <a:r>
              <a:rPr lang="en-US" altLang="en-GB" b="1"/>
              <a:t>Intrinsic, not delivered : </a:t>
            </a:r>
            <a:r>
              <a:rPr lang="en-US" altLang="en-GB"/>
              <a:t>computed from anatomy and the prescription, independent of any realised dose or plan</a:t>
            </a:r>
            <a:endParaRPr lang="en-US" altLang="en-GB"/>
          </a:p>
          <a:p>
            <a:pPr>
              <a:lnSpc>
                <a:spcPct val="150000"/>
              </a:lnSpc>
            </a:pPr>
            <a:r>
              <a:rPr lang="en-US" altLang="en-GB" b="1"/>
              <a:t>Two levels :</a:t>
            </a:r>
            <a:r>
              <a:rPr lang="en-US" altLang="en-GB"/>
              <a:t> organ-level, to locate where the difficulty is; patient-level, to give one verdict per case</a:t>
            </a:r>
            <a:endParaRPr lang="en-US" altLang="en-GB"/>
          </a:p>
          <a:p>
            <a:pPr>
              <a:lnSpc>
                <a:spcPct val="150000"/>
              </a:lnSpc>
            </a:pPr>
            <a:r>
              <a:rPr lang="en-US" altLang="en-GB" b="1"/>
              <a:t>Volumetric :</a:t>
            </a:r>
            <a:r>
              <a:rPr lang="en-US" altLang="en-GB"/>
              <a:t> measure how much of an organ is compromised, not just whether it is close</a:t>
            </a:r>
            <a:endParaRPr lang="en-US" altLang="en-GB"/>
          </a:p>
          <a:p>
            <a:pPr>
              <a:lnSpc>
                <a:spcPct val="150000"/>
              </a:lnSpc>
            </a:pPr>
            <a:r>
              <a:rPr lang="en-US" altLang="en-GB" b="1"/>
              <a:t>Clinically weighted :</a:t>
            </a:r>
            <a:r>
              <a:rPr lang="en-US" altLang="en-GB"/>
              <a:t> the patient score reflects both each organ's intrinsic difficulty and its clinical importance</a:t>
            </a:r>
            <a:endParaRPr lang="en-US" altLang="en-GB"/>
          </a:p>
          <a:p>
            <a:pPr>
              <a:lnSpc>
                <a:spcPct val="150000"/>
              </a:lnSpc>
            </a:pPr>
            <a:r>
              <a:rPr lang="en-US" altLang="en-GB" b="1"/>
              <a:t>Interpretable :</a:t>
            </a:r>
            <a:r>
              <a:rPr lang="en-US" altLang="en-GB"/>
              <a:t> a number a clinician can read and act on, not a black box</a:t>
            </a:r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8" name="Group 7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9" name="Group 8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0" name="Straight Connector 9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5" name="Rounded Rectangle 24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z="3000" dirty="0">
                <a:solidFill>
                  <a:srgbClr val="333333"/>
                </a:solidFill>
                <a:latin typeface="Times New Roman" panose="02020603050405020304"/>
              </a:rPr>
              <a:t>Tumour Geometric Complexity(TGC) - Quantification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53571-2320-4028-859F-E666431AC9A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  <p:grpSp>
        <p:nvGrpSpPr>
          <p:cNvPr id="18" name="Group 17"/>
          <p:cNvGrpSpPr/>
          <p:nvPr>
            <p:custDataLst>
              <p:tags r:id="rId1"/>
            </p:custDataLst>
          </p:nvPr>
        </p:nvGrpSpPr>
        <p:grpSpPr>
          <a:xfrm>
            <a:off x="871855" y="2093722"/>
            <a:ext cx="5857240" cy="1499616"/>
            <a:chOff x="864" y="2779"/>
            <a:chExt cx="9224" cy="2362"/>
          </a:xfrm>
        </p:grpSpPr>
        <p:sp>
          <p:nvSpPr>
            <p:cNvPr id="8" name="Shape 4"/>
            <p:cNvSpPr/>
            <p:nvPr>
              <p:custDataLst>
                <p:tags r:id="rId2"/>
              </p:custDataLst>
            </p:nvPr>
          </p:nvSpPr>
          <p:spPr>
            <a:xfrm>
              <a:off x="864" y="2894"/>
              <a:ext cx="288" cy="288"/>
            </a:xfrm>
            <a:prstGeom prst="ellipse">
              <a:avLst/>
            </a:prstGeom>
            <a:solidFill>
              <a:srgbClr val="BD582C"/>
            </a:solidFill>
          </p:spPr>
        </p:sp>
        <p:sp>
          <p:nvSpPr>
            <p:cNvPr id="9" name="Text 5"/>
            <p:cNvSpPr/>
            <p:nvPr>
              <p:custDataLst>
                <p:tags r:id="rId3"/>
              </p:custDataLst>
            </p:nvPr>
          </p:nvSpPr>
          <p:spPr>
            <a:xfrm>
              <a:off x="1368" y="2779"/>
              <a:ext cx="849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2B2B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Overlap  </a:t>
              </a:r>
              <a:r>
                <a:rPr lang="en-US" sz="1600" b="1" dirty="0">
                  <a:solidFill>
                    <a:srgbClr val="BD582C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(NOV)</a:t>
              </a:r>
              <a:r>
                <a:rPr lang="en-US" sz="1600" dirty="0">
                  <a:solidFill>
                    <a:srgbClr val="7F7F7F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  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intrinsic complexity — OAR inside the PTV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Shape 6"/>
            <p:cNvSpPr/>
            <p:nvPr>
              <p:custDataLst>
                <p:tags r:id="rId4"/>
              </p:custDataLst>
            </p:nvPr>
          </p:nvSpPr>
          <p:spPr>
            <a:xfrm>
              <a:off x="864" y="3787"/>
              <a:ext cx="288" cy="288"/>
            </a:xfrm>
            <a:prstGeom prst="ellipse">
              <a:avLst/>
            </a:prstGeom>
            <a:solidFill>
              <a:srgbClr val="E48312"/>
            </a:solidFill>
          </p:spPr>
        </p:sp>
        <p:sp>
          <p:nvSpPr>
            <p:cNvPr id="11" name="Text 7"/>
            <p:cNvSpPr/>
            <p:nvPr>
              <p:custDataLst>
                <p:tags r:id="rId5"/>
              </p:custDataLst>
            </p:nvPr>
          </p:nvSpPr>
          <p:spPr>
            <a:xfrm>
              <a:off x="1368" y="3672"/>
              <a:ext cx="872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2B2B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Near-Compression  </a:t>
              </a:r>
              <a:r>
                <a:rPr lang="en-US" sz="1600" b="1" dirty="0">
                  <a:solidFill>
                    <a:srgbClr val="E48312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(NCV)</a:t>
              </a:r>
              <a:r>
                <a:rPr lang="en-US" sz="1600" dirty="0">
                  <a:solidFill>
                    <a:srgbClr val="7F7F7F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  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machine-limited — too close to spare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Shape 8"/>
            <p:cNvSpPr/>
            <p:nvPr>
              <p:custDataLst>
                <p:tags r:id="rId6"/>
              </p:custDataLst>
            </p:nvPr>
          </p:nvSpPr>
          <p:spPr>
            <a:xfrm>
              <a:off x="864" y="4680"/>
              <a:ext cx="288" cy="288"/>
            </a:xfrm>
            <a:prstGeom prst="ellipse">
              <a:avLst/>
            </a:prstGeom>
            <a:solidFill>
              <a:srgbClr val="637052"/>
            </a:solidFill>
          </p:spPr>
        </p:sp>
        <p:sp>
          <p:nvSpPr>
            <p:cNvPr id="13" name="Text 9"/>
            <p:cNvSpPr/>
            <p:nvPr>
              <p:custDataLst>
                <p:tags r:id="rId7"/>
              </p:custDataLst>
            </p:nvPr>
          </p:nvSpPr>
          <p:spPr>
            <a:xfrm>
              <a:off x="1368" y="4565"/>
              <a:ext cx="849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2B2B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Safe  </a:t>
              </a:r>
              <a:r>
                <a:rPr lang="en-US" sz="1600" b="1" dirty="0">
                  <a:solidFill>
                    <a:srgbClr val="637052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(NSV)</a:t>
              </a:r>
              <a:r>
                <a:rPr lang="en-US" sz="1600" dirty="0">
                  <a:solidFill>
                    <a:srgbClr val="7F7F7F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  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far enough from the tumour to be spared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Text 3"/>
          <p:cNvSpPr/>
          <p:nvPr/>
        </p:nvSpPr>
        <p:spPr>
          <a:xfrm>
            <a:off x="6586855" y="455168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F7F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Differential Distance-to-Target Histogram of an OAR, split into three zones</a:t>
            </a:r>
            <a:endParaRPr lang="en-US" sz="1050" dirty="0"/>
          </a:p>
        </p:txBody>
      </p:sp>
      <p:pic>
        <p:nvPicPr>
          <p:cNvPr id="3" name="Picture 2" descr="Screenshot 2026-08-20 1324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9425" y="1851660"/>
            <a:ext cx="4772660" cy="26358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855" y="3763645"/>
            <a:ext cx="5488305" cy="7277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13"/>
              <p:cNvSpPr txBox="1"/>
              <p:nvPr/>
            </p:nvSpPr>
            <p:spPr>
              <a:xfrm>
                <a:off x="2917444" y="4551616"/>
                <a:ext cx="1896110" cy="5988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:r>
                  <a:rPr lang="en-US" altLang="en-GB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en-GB" sz="28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GB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box>
                      <m:boxPr>
                        <m:noBreak m:val="on"/>
                        <m:ctrlPr>
                          <a:rPr lang="en-US" altLang="en-GB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en-GB" sz="28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GB" sz="28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en-GB" sz="2800" i="1" baseline="-250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𝑃𝑇𝑉</m:t>
                            </m:r>
                            <m:r>
                              <a:rPr lang="en-US" altLang="en-GB" sz="2800" i="1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 </m:t>
                            </m:r>
                            <m:r>
                              <a:rPr lang="en-US" altLang="en-GB" sz="28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GB" sz="2800" i="1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 </m:t>
                            </m:r>
                            <m:r>
                              <a:rPr lang="en-US" altLang="en-GB" sz="28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en-GB" sz="2800" i="1" baseline="-250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𝑂𝐴𝑅</m:t>
                            </m:r>
                          </m:num>
                          <m:den>
                            <m:r>
                              <a:rPr lang="en-US" altLang="en-GB" sz="28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𝐺</m:t>
                            </m:r>
                          </m:den>
                        </m:f>
                      </m:e>
                    </m:box>
                  </m:oMath>
                </a14:m>
                <a:endParaRPr lang="en-US" altLang="en-GB" sz="28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44" y="4551616"/>
                <a:ext cx="1896110" cy="598805"/>
              </a:xfrm>
              <a:prstGeom prst="rect">
                <a:avLst/>
              </a:prstGeom>
              <a:blipFill rotWithShape="1">
                <a:blip r:embed="rId10"/>
                <a:stretch>
                  <a:fillRect l="-13" t="-95" r="-2465" b="-3404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5"/>
          <p:cNvSpPr txBox="1"/>
          <p:nvPr/>
        </p:nvSpPr>
        <p:spPr>
          <a:xfrm>
            <a:off x="871855" y="5083810"/>
            <a:ext cx="585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Where D</a:t>
            </a:r>
            <a:r>
              <a:rPr lang="en-US" altLang="en-GB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PTV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 = prescribed PTV dose </a:t>
            </a:r>
            <a:endParaRPr lang="en-US" altLang="en-GB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GB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OAR</a:t>
            </a:r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 = OAR dose constraint (tolerance)  </a:t>
            </a:r>
            <a:endParaRPr lang="en-US" altLang="en-GB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G = achievable dose gradient (Gy/mm)</a:t>
            </a:r>
            <a:endParaRPr lang="en-US" altLang="en-GB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38" name="Group 37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39" name="Group 38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40" name="Straight Connector 39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Rounded Rectangle 44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6" name="Rounded Rectangle 45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7" name="Rounded Rectangle 46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8" name="Rounded Rectangle 47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9" name="Rounded Rectangle 48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50" name="Text Box 49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50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 Box 51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Box 52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 Box 53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Text Box 54"/>
          <p:cNvSpPr txBox="1"/>
          <p:nvPr/>
        </p:nvSpPr>
        <p:spPr>
          <a:xfrm>
            <a:off x="2468245" y="6471920"/>
            <a:ext cx="73577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200" i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Özgür et al., Radiotherapy &amp; Oncology 2023; doi:10.1016/j.radonc.2023.109895.</a:t>
            </a:r>
            <a:endParaRPr lang="en-US" altLang="en-US" sz="1200" i="1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z="3000" dirty="0">
                <a:solidFill>
                  <a:srgbClr val="333333"/>
                </a:solidFill>
                <a:latin typeface="Times New Roman" panose="02020603050405020304"/>
              </a:rPr>
              <a:t>Organ Level Geometric Volume Coefficient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53571-2320-4028-859F-E666431AC9A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  <p:grpSp>
        <p:nvGrpSpPr>
          <p:cNvPr id="18" name="Group 17"/>
          <p:cNvGrpSpPr/>
          <p:nvPr>
            <p:custDataLst>
              <p:tags r:id="rId1"/>
            </p:custDataLst>
          </p:nvPr>
        </p:nvGrpSpPr>
        <p:grpSpPr>
          <a:xfrm>
            <a:off x="871855" y="2093722"/>
            <a:ext cx="5857240" cy="1499616"/>
            <a:chOff x="864" y="2779"/>
            <a:chExt cx="9224" cy="2362"/>
          </a:xfrm>
        </p:grpSpPr>
        <p:sp>
          <p:nvSpPr>
            <p:cNvPr id="8" name="Shape 4"/>
            <p:cNvSpPr/>
            <p:nvPr>
              <p:custDataLst>
                <p:tags r:id="rId2"/>
              </p:custDataLst>
            </p:nvPr>
          </p:nvSpPr>
          <p:spPr>
            <a:xfrm>
              <a:off x="864" y="2894"/>
              <a:ext cx="288" cy="288"/>
            </a:xfrm>
            <a:prstGeom prst="ellipse">
              <a:avLst/>
            </a:prstGeom>
            <a:solidFill>
              <a:srgbClr val="BD582C"/>
            </a:solidFill>
          </p:spPr>
        </p:sp>
        <p:sp>
          <p:nvSpPr>
            <p:cNvPr id="9" name="Text 5"/>
            <p:cNvSpPr/>
            <p:nvPr>
              <p:custDataLst>
                <p:tags r:id="rId3"/>
              </p:custDataLst>
            </p:nvPr>
          </p:nvSpPr>
          <p:spPr>
            <a:xfrm>
              <a:off x="1368" y="2779"/>
              <a:ext cx="849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2B2B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Overlap  </a:t>
              </a:r>
              <a:r>
                <a:rPr lang="en-US" sz="1600" b="1" dirty="0">
                  <a:solidFill>
                    <a:srgbClr val="BD582C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(NOV)</a:t>
              </a:r>
              <a:r>
                <a:rPr lang="en-US" sz="1600" dirty="0">
                  <a:solidFill>
                    <a:srgbClr val="7F7F7F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  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intrinsic complexity — OAR inside the PTV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Shape 6"/>
            <p:cNvSpPr/>
            <p:nvPr>
              <p:custDataLst>
                <p:tags r:id="rId4"/>
              </p:custDataLst>
            </p:nvPr>
          </p:nvSpPr>
          <p:spPr>
            <a:xfrm>
              <a:off x="864" y="3787"/>
              <a:ext cx="288" cy="288"/>
            </a:xfrm>
            <a:prstGeom prst="ellipse">
              <a:avLst/>
            </a:prstGeom>
            <a:solidFill>
              <a:srgbClr val="E48312"/>
            </a:solidFill>
          </p:spPr>
        </p:sp>
        <p:sp>
          <p:nvSpPr>
            <p:cNvPr id="11" name="Text 7"/>
            <p:cNvSpPr/>
            <p:nvPr>
              <p:custDataLst>
                <p:tags r:id="rId5"/>
              </p:custDataLst>
            </p:nvPr>
          </p:nvSpPr>
          <p:spPr>
            <a:xfrm>
              <a:off x="1368" y="3672"/>
              <a:ext cx="872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2B2B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Near-Compression  </a:t>
              </a:r>
              <a:r>
                <a:rPr lang="en-US" sz="1600" b="1" dirty="0">
                  <a:solidFill>
                    <a:srgbClr val="E48312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(NCV)</a:t>
              </a:r>
              <a:r>
                <a:rPr lang="en-US" sz="1600" dirty="0">
                  <a:solidFill>
                    <a:srgbClr val="7F7F7F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  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machine-limited — too close to spare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Shape 8"/>
            <p:cNvSpPr/>
            <p:nvPr>
              <p:custDataLst>
                <p:tags r:id="rId6"/>
              </p:custDataLst>
            </p:nvPr>
          </p:nvSpPr>
          <p:spPr>
            <a:xfrm>
              <a:off x="864" y="4680"/>
              <a:ext cx="288" cy="288"/>
            </a:xfrm>
            <a:prstGeom prst="ellipse">
              <a:avLst/>
            </a:prstGeom>
            <a:solidFill>
              <a:srgbClr val="637052"/>
            </a:solidFill>
          </p:spPr>
        </p:sp>
        <p:sp>
          <p:nvSpPr>
            <p:cNvPr id="13" name="Text 9"/>
            <p:cNvSpPr/>
            <p:nvPr>
              <p:custDataLst>
                <p:tags r:id="rId7"/>
              </p:custDataLst>
            </p:nvPr>
          </p:nvSpPr>
          <p:spPr>
            <a:xfrm>
              <a:off x="1368" y="4565"/>
              <a:ext cx="849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2B2B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Safe  </a:t>
              </a:r>
              <a:r>
                <a:rPr lang="en-US" sz="1600" b="1" dirty="0">
                  <a:solidFill>
                    <a:srgbClr val="637052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(NSV)</a:t>
              </a:r>
              <a:r>
                <a:rPr lang="en-US" sz="1600" dirty="0">
                  <a:solidFill>
                    <a:srgbClr val="7F7F7F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  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-122"/>
                  <a:cs typeface="Times New Roman" panose="02020603050405020304" pitchFamily="18" charset="0"/>
                </a:rPr>
                <a:t>far enough from the tumour to be spared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76935" y="3739515"/>
            <a:ext cx="6316345" cy="1107440"/>
            <a:chOff x="1381" y="6170"/>
            <a:chExt cx="9947" cy="17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 Box 18"/>
                <p:cNvSpPr txBox="1"/>
                <p:nvPr/>
              </p:nvSpPr>
              <p:spPr>
                <a:xfrm>
                  <a:off x="1381" y="6869"/>
                  <a:ext cx="8870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𝐺𝑉𝐶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𝑁𝑂𝑉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𝑁𝐶𝑉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𝑁𝑆𝑉</m:t>
                        </m:r>
                      </m:oMath>
                    </m:oMathPara>
                  </a14:m>
                  <a:endParaRPr lang="en-US" alt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9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1" y="6869"/>
                  <a:ext cx="8870" cy="58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 Box 19"/>
            <p:cNvSpPr txBox="1"/>
            <p:nvPr/>
          </p:nvSpPr>
          <p:spPr>
            <a:xfrm>
              <a:off x="1683" y="6170"/>
              <a:ext cx="85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GB" b="1" u="sng">
                  <a:latin typeface="Times New Roman" panose="02020603050405020304" pitchFamily="18" charset="0"/>
                  <a:cs typeface="Times New Roman" panose="02020603050405020304" pitchFamily="18" charset="0"/>
                </a:rPr>
                <a:t>Organ Level Geometric Volume Cofficient (GVC)</a:t>
              </a:r>
              <a:endParaRPr lang="en-US" altLang="en-GB" b="1" u="sng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 Box 20"/>
                <p:cNvSpPr txBox="1"/>
                <p:nvPr/>
              </p:nvSpPr>
              <p:spPr>
                <a:xfrm>
                  <a:off x="1728" y="7334"/>
                  <a:ext cx="9600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:r>
                    <a:rPr lang="en-US">
                      <a:solidFill>
                        <a:srgbClr val="FF0000"/>
                      </a:solidFill>
                      <a:latin typeface="Cambria Math" panose="02040503050406030204" pitchFamily="18" charset="0"/>
                    </a:rPr>
                    <a:t>Where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 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US" altLang="en-US" i="1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1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" y="7334"/>
                  <a:ext cx="9600" cy="58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Text 3"/>
          <p:cNvSpPr/>
          <p:nvPr/>
        </p:nvSpPr>
        <p:spPr>
          <a:xfrm>
            <a:off x="6586855" y="455168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F7F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Differential Distance-to-Target Histogram of an OAR, split into three zones</a:t>
            </a:r>
            <a:endParaRPr lang="en-US" sz="1050" dirty="0"/>
          </a:p>
        </p:txBody>
      </p:sp>
      <p:pic>
        <p:nvPicPr>
          <p:cNvPr id="3" name="Picture 2" descr="Screenshot 2026-08-20 1324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9425" y="1851660"/>
            <a:ext cx="4772660" cy="26358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13"/>
              <p:cNvSpPr txBox="1"/>
              <p:nvPr/>
            </p:nvSpPr>
            <p:spPr>
              <a:xfrm>
                <a:off x="954405" y="4842510"/>
                <a:ext cx="5632450" cy="6045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𝐺𝑉𝐶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𝑁𝑂𝑉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𝑁𝐶𝑉</m:t>
                      </m:r>
                    </m:oMath>
                  </m:oMathPara>
                </a14:m>
                <a:endParaRPr lang="en-US" altLang="en-US" i="1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405" y="4842510"/>
                <a:ext cx="5632450" cy="60452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4"/>
          <p:cNvSpPr txBox="1"/>
          <p:nvPr/>
        </p:nvSpPr>
        <p:spPr>
          <a:xfrm>
            <a:off x="1096010" y="5387975"/>
            <a:ext cx="1011618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sz="1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= 1, γ = 0 keep the score bounded (overlap full, separation ignored); β = 0.5 sets near-compression at the midpoint of partial recoverability </a:t>
            </a:r>
            <a:r>
              <a:rPr lang="en-US" sz="1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PoC </a:t>
            </a:r>
            <a:r>
              <a:rPr lang="en-US" sz="1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hand </a:t>
            </a:r>
            <a:r>
              <a:rPr sz="1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r>
              <a:rPr lang="en-US" sz="1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8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40" name="Group 39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41" name="Group 40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42" name="Straight Connector 41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Rounded Rectangle 46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8" name="Rounded Rectangle 47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9" name="Rounded Rectangle 48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50" name="Rounded Rectangle 49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51" name="Rounded Rectangle 50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52" name="Text Box 51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Box 52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 Box 53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54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 Box 55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p>
            <a:r>
              <a:rPr lang="en-US" altLang="en-GB" sz="3000">
                <a:solidFill>
                  <a:srgbClr val="333333"/>
                </a:solidFill>
                <a:latin typeface="Times New Roman" panose="02020603050405020304"/>
              </a:rPr>
              <a:t>Interpretation of Geometric Descriptor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ctr"/>
            <a:r>
              <a:rPr lang="en-US" altLang="en-GB"/>
              <a:t>Engaged fraction (volume not free of risk):</a:t>
            </a:r>
            <a:endParaRPr lang="en-US" altLang="en-GB"/>
          </a:p>
          <a:p>
            <a:pPr algn="ctr"/>
            <a:r>
              <a:rPr lang="en-US" altLang="en-GB"/>
              <a:t>E = NOV + NCV = 1 − NSV</a:t>
            </a:r>
            <a:endParaRPr lang="en-US" altLang="en-GB"/>
          </a:p>
          <a:p>
            <a:pPr algn="ctr"/>
            <a:r>
              <a:rPr lang="en-US" altLang="en-GB"/>
              <a:t>The coefficient bounds it to within a factor of two:</a:t>
            </a:r>
            <a:endParaRPr lang="en-US" altLang="en-GB"/>
          </a:p>
          <a:p>
            <a:pPr algn="ctr"/>
            <a:r>
              <a:rPr lang="en-US" altLang="en-GB"/>
              <a:t>GVC ≤ E ≤ min(2 GVC,</a:t>
            </a:r>
            <a:r>
              <a:rPr lang="en-US" altLang="en-US"/>
              <a:t> </a:t>
            </a:r>
            <a:r>
              <a:rPr lang="en-US" altLang="en-GB"/>
              <a:t>1)</a:t>
            </a:r>
            <a:endParaRPr lang="en-US" altLang="en-GB"/>
          </a:p>
          <a:p>
            <a:pPr algn="ctr"/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1828800" y="396430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 Level GVC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Engaged Volume %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 Volume %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20 - 40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60 - 80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50 - 100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50 - 0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pSp>
        <p:nvGrpSpPr>
          <p:cNvPr id="8" name="Group 7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9" name="Group 8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10" name="Group 9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1" name="Straight Connector 10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Rounded Rectangle 16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5" name="Rounded Rectangle 24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8" name="Rounded Rectangle 37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9" name="Text Box 38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42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097280" y="5943600"/>
            <a:ext cx="100584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i="1">
                <a:solidFill>
                  <a:srgbClr val="606060"/>
                </a:solidFill>
                <a:latin typeface="Times New Roman" panose="02020603050405020304"/>
              </a:rPr>
              <a:t>Table — Interpretation of the GVC: the engaged and safe organ-volume fraction each coefficient implies (Eq. 2.6).</a:t>
            </a:r>
            <a:endParaRPr sz="1000" i="1">
              <a:solidFill>
                <a:srgbClr val="60606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z="3000" dirty="0">
                <a:solidFill>
                  <a:srgbClr val="333333"/>
                </a:solidFill>
                <a:latin typeface="Times New Roman" panose="02020603050405020304"/>
              </a:rPr>
              <a:t>Patient Level Geometric Volume Coefficient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53571-2320-4028-859F-E666431AC9A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871855" y="3634740"/>
            <a:ext cx="10340975" cy="2520315"/>
            <a:chOff x="1661" y="7830"/>
            <a:chExt cx="16285" cy="3969"/>
          </a:xfrm>
        </p:grpSpPr>
        <p:sp>
          <p:nvSpPr>
            <p:cNvPr id="22" name="Text Box 21"/>
            <p:cNvSpPr txBox="1"/>
            <p:nvPr/>
          </p:nvSpPr>
          <p:spPr>
            <a:xfrm>
              <a:off x="1661" y="7830"/>
              <a:ext cx="1628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b="1" u="sng">
                  <a:latin typeface="Times New Roman" panose="02020603050405020304" pitchFamily="18" charset="0"/>
                  <a:cs typeface="Times New Roman" panose="02020603050405020304" pitchFamily="18" charset="0"/>
                </a:rPr>
                <a:t>Patient Level Geometric Volume Cofficient (GVC)</a:t>
              </a:r>
              <a:endParaRPr lang="en-US" altLang="en-GB" b="1" u="sng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 Box 22"/>
                <p:cNvSpPr txBox="1"/>
                <p:nvPr/>
              </p:nvSpPr>
              <p:spPr>
                <a:xfrm>
                  <a:off x="1661" y="8480"/>
                  <a:ext cx="16195" cy="3319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>
                    <a:lnSpc>
                      <a:spcPct val="11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𝐺𝑉𝐶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𝑝𝑎𝑡𝑖𝑒𝑛𝑡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𝑝𝑟𝑖𝑜𝑟𝑖𝑡𝑦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𝐺𝑉𝐶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 lang="en-US" dirty="0">
                      <a:sym typeface="+mn-ea"/>
                    </a:rPr>
                    <a:t> </a:t>
                  </a:r>
                  <a:endParaRPr lang="en-US" dirty="0">
                    <a:sym typeface="+mn-ea"/>
                  </a:endParaRPr>
                </a:p>
                <a:p>
                  <a:pPr algn="ctr">
                    <a:lnSpc>
                      <a:spcPct val="110000"/>
                    </a:lnSpc>
                  </a:pPr>
                  <a:endParaRPr lang="en-US" dirty="0">
                    <a:sym typeface="+mn-ea"/>
                  </a:endParaRPr>
                </a:p>
                <a:p>
                  <a:pPr algn="ctr">
                    <a:lnSpc>
                      <a:spcPct val="110000"/>
                    </a:lnSpc>
                  </a:pPr>
                  <a:r>
                    <a:rPr lang="en-US" altLang="en-GB" dirty="0">
                      <a:sym typeface="+mn-ea"/>
                    </a:rPr>
                    <a:t>Where,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 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𝑝𝑟𝑖𝑜𝑟𝑖𝑡𝑦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𝐶𝑙𝑖𝑛𝑖𝑐𝑎𝑙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 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𝑤𝑒𝑖𝑔ℎ𝑡</m:t>
                      </m:r>
                    </m:oMath>
                  </a14:m>
                  <a:r>
                    <a:rPr lang="en-US" altLang="en-GB" dirty="0">
                      <a:sym typeface="+mn-ea"/>
                    </a:rPr>
                    <a:t>, and each organ is weighted by its own severity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𝑟𝑎𝑛𝑘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en-US" i="1" dirty="0">
                      <a:solidFill>
                        <a:srgbClr val="FF0000"/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  <a:sym typeface="+mn-ea"/>
                    </a:rPr>
                    <a:t>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𝐺𝑉𝐶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en-GB" dirty="0">
                      <a:sym typeface="+mn-ea"/>
                    </a:rPr>
                    <a:t>) : so the score scales with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𝐺𝑉𝐶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sym typeface="+mn-ea"/>
                    </a:rPr>
                    <a:t> </a:t>
                  </a:r>
                  <a:r>
                    <a:rPr lang="en-US" altLang="en-GB" dirty="0">
                      <a:sym typeface="+mn-ea"/>
                    </a:rPr>
                    <a:t>and is driven by the most compromised and clinically important organs</a:t>
                  </a:r>
                  <a:endParaRPr lang="en-US" altLang="en-GB" dirty="0">
                    <a:sym typeface="+mn-ea"/>
                  </a:endParaRPr>
                </a:p>
                <a:p>
                  <a:pPr algn="ctr">
                    <a:lnSpc>
                      <a:spcPct val="110000"/>
                    </a:lnSpc>
                  </a:pPr>
                  <a:endParaRPr lang="en-US" i="1"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ct val="11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𝐺𝑉𝐶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𝑝𝑎𝑡𝑖𝑒𝑛𝑡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𝑝𝑟𝑖𝑜𝑟𝑖𝑡𝑦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𝐺𝑉𝐶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sym typeface="+mn-ea"/>
                    </a:rPr>
                    <a:t> </a:t>
                  </a:r>
                  <a:endParaRPr lang="en-US" altLang="en-US" i="1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endParaRPr>
                </a:p>
              </p:txBody>
            </p:sp>
          </mc:Choice>
          <mc:Fallback>
            <p:sp>
              <p:nvSpPr>
                <p:cNvPr id="23" name="Text 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1" y="8480"/>
                  <a:ext cx="16195" cy="3319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/>
          <p:cNvGrpSpPr/>
          <p:nvPr/>
        </p:nvGrpSpPr>
        <p:grpSpPr>
          <a:xfrm>
            <a:off x="870821" y="1866900"/>
            <a:ext cx="10406212" cy="1898015"/>
            <a:chOff x="1380" y="6170"/>
            <a:chExt cx="10066" cy="298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 Box 6"/>
                <p:cNvSpPr txBox="1"/>
                <p:nvPr/>
              </p:nvSpPr>
              <p:spPr>
                <a:xfrm>
                  <a:off x="1381" y="6869"/>
                  <a:ext cx="10003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𝐺𝑉𝐶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𝑁𝑂𝑉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𝑁𝐶𝑉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𝑁𝑆𝑉</m:t>
                        </m:r>
                      </m:oMath>
                    </m:oMathPara>
                  </a14:m>
                  <a:endParaRPr lang="en-US" alt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7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1" y="6869"/>
                  <a:ext cx="10003" cy="58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 Box 13"/>
            <p:cNvSpPr txBox="1"/>
            <p:nvPr/>
          </p:nvSpPr>
          <p:spPr>
            <a:xfrm>
              <a:off x="1380" y="6170"/>
              <a:ext cx="1006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b="1" u="sng">
                  <a:latin typeface="Times New Roman" panose="02020603050405020304" pitchFamily="18" charset="0"/>
                  <a:cs typeface="Times New Roman" panose="02020603050405020304" pitchFamily="18" charset="0"/>
                </a:rPr>
                <a:t>Organ Level Geometric Volume Cofficient (GVC)</a:t>
              </a:r>
              <a:endParaRPr lang="en-US" altLang="en-GB" b="1" u="sng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 Box 14"/>
                <p:cNvSpPr txBox="1"/>
                <p:nvPr/>
              </p:nvSpPr>
              <p:spPr>
                <a:xfrm>
                  <a:off x="1728" y="7334"/>
                  <a:ext cx="9600" cy="1825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:r>
                    <a:rPr lang="en-US">
                      <a:solidFill>
                        <a:srgbClr val="FF0000"/>
                      </a:solidFill>
                      <a:latin typeface="Cambria Math" panose="02040503050406030204" pitchFamily="18" charset="0"/>
                    </a:rPr>
                    <a:t>Where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 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US" i="1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𝐺𝑉𝐶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𝑁𝑂𝑉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𝑁𝐶𝑉</m:t>
                        </m:r>
                      </m:oMath>
                    </m:oMathPara>
                  </a14:m>
                  <a:endParaRPr lang="en-US" alt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n-US" altLang="en-US" i="1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" y="7334"/>
                  <a:ext cx="9600" cy="182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12" name="Group 11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16" name="Group 15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7" name="Straight Connector 16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Rounded Rectangle 38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0" name="Rounded Rectangle 39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1" name="Rounded Rectangle 40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2" name="Rounded Rectangle 41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43" name="Rounded Rectangle 42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44" name="Text Box 43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 Box 44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Box 45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 Box 46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47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p>
            <a:r>
              <a:rPr sz="2800">
                <a:solidFill>
                  <a:srgbClr val="333333"/>
                </a:solidFill>
                <a:latin typeface="Times New Roman" panose="02020603050405020304"/>
              </a:rPr>
              <a:t>Planning Study — matRad + Parameters</a:t>
            </a:r>
            <a:endParaRPr sz="28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9" name="Group 8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10" name="Group 9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1" name="Straight Connector 10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Rounded Rectangle 16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5" name="Rounded Rectangle 24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8" name="Rounded Rectangle 37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9" name="Text Box 38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42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914400" y="1783080"/>
            <a:ext cx="7028815" cy="4508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Open-source planning toolkit :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our dosimetric reference, not a clinical plan.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Inverse planning :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optimises backwards from the prescribed dose, the paradigm our descriptor targets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Four modalities, one framework 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photon, proton, helium, carbon; the modality is the only variable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Real patient CT :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DICOM head-region anatomy, not phantoms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Open-source and scriptable 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free, MATLAB-based, reproducible; lets us reach into the dose maps to extract the gradient G.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o"/>
            </a:pPr>
            <a:r>
              <a:rPr lang="en-US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OAR objectives applied </a:t>
            </a:r>
            <a:r>
              <a:rPr lang="en-US" b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only the PTV is optimised, keeping the geometry–dose test unbiased.</a:t>
            </a:r>
            <a:endParaRPr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023225" y="2473960"/>
          <a:ext cx="3303270" cy="312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11630"/>
              </a:tblGrid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Beams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Prescribed dose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Gy / 30 fx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Bixel width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 mm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2.5³ mm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Gantry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350°, 190°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</a:tr>
              <a:tr h="34988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Iso-centre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3.90, −7.40)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PTV objective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sq. dev. (w=300)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76" marR="36576" marT="0" marB="0" anchor="ctr"/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1337310" y="6423660"/>
            <a:ext cx="10241280" cy="3073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endParaRPr sz="1000" i="1">
              <a:solidFill>
                <a:srgbClr val="606060"/>
              </a:solidFill>
              <a:latin typeface="Times New Roman" panose="02020603050405020304"/>
            </a:endParaRPr>
          </a:p>
          <a:p>
            <a:pPr algn="ctr"/>
            <a:r>
              <a:rPr sz="1000" i="1">
                <a:solidFill>
                  <a:srgbClr val="606060"/>
                </a:solidFill>
                <a:latin typeface="Times New Roman" panose="02020603050405020304"/>
              </a:rPr>
              <a:t>Three head-region patients; bi-institutional, IRB-approved (CFB INT-24-016; CLERS 5496).   30 Gy/30 fx is a normalisation, not a clinical schedule.</a:t>
            </a:r>
            <a:endParaRPr sz="1000" i="1">
              <a:solidFill>
                <a:srgbClr val="60606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600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sz="1500">
                <a:solidFill>
                  <a:srgbClr val="555555"/>
                </a:solidFill>
                <a:latin typeface="Times New Roman" panose="02020603050405020304"/>
              </a:rPr>
              <a:t>Geometric complexity, delivered dose, and their agreement</a:t>
            </a:r>
            <a:endParaRPr sz="1500">
              <a:solidFill>
                <a:srgbClr val="555555"/>
              </a:solidFill>
              <a:latin typeface="Times New Roman" panose="02020603050405020304"/>
            </a:endParaRP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387985" y="306705"/>
            <a:ext cx="11388090" cy="871855"/>
            <a:chOff x="611" y="267"/>
            <a:chExt cx="17934" cy="1373"/>
          </a:xfrm>
        </p:grpSpPr>
        <p:pic>
          <p:nvPicPr>
            <p:cNvPr id="4" name="Picture 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611" y="267"/>
              <a:ext cx="3949" cy="1373"/>
            </a:xfrm>
            <a:prstGeom prst="rect">
              <a:avLst/>
            </a:prstGeom>
          </p:spPr>
        </p:pic>
        <p:pic>
          <p:nvPicPr>
            <p:cNvPr id="8" name="Picture 7"/>
            <p:cNvPicPr/>
            <p:nvPr/>
          </p:nvPicPr>
          <p:blipFill>
            <a:blip r:embed="rId2"/>
            <a:srcRect t="10864" b="10173"/>
            <a:stretch>
              <a:fillRect/>
            </a:stretch>
          </p:blipFill>
          <p:spPr>
            <a:xfrm>
              <a:off x="15837" y="267"/>
              <a:ext cx="2708" cy="1373"/>
            </a:xfrm>
            <a:prstGeom prst="rect">
              <a:avLst/>
            </a:prstGeom>
          </p:spPr>
        </p:pic>
        <p:pic>
          <p:nvPicPr>
            <p:cNvPr id="9" name="Picture 8"/>
            <p:cNvPicPr/>
            <p:nvPr/>
          </p:nvPicPr>
          <p:blipFill>
            <a:blip r:embed="rId3"/>
            <a:srcRect t="14281" b="12296"/>
            <a:stretch>
              <a:fillRect/>
            </a:stretch>
          </p:blipFill>
          <p:spPr>
            <a:xfrm>
              <a:off x="8707" y="268"/>
              <a:ext cx="1785" cy="1372"/>
            </a:xfrm>
            <a:prstGeom prst="rect">
              <a:avLst/>
            </a:prstGeom>
          </p:spPr>
        </p:pic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BEF66E2-F8E0-4F94-BFB9-5EF12BC658C9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</a:t>
            </a:r>
            <a:r>
              <a:rPr lang="en-US"/>
              <a:t>istance to Target Histograms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1851660"/>
            <a:ext cx="9806940" cy="290703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3712845" y="5617210"/>
            <a:ext cx="476567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G = 5.67 Gy/mm — 95th percentile of the dose gradient across the PTV boundary (matRad)</a:t>
            </a:r>
            <a:endParaRPr lang="en-US" altLang="en-GB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024890" y="4695190"/>
            <a:ext cx="101873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Fig 01 : Distance-to-target histograms relative to the planning target volume for two</a:t>
            </a:r>
            <a:endParaRPr lang="en-US" altLang="en-GB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organs at risk of the representative patient: the optic pathways (dc = 2.82 mm, left) and</a:t>
            </a:r>
            <a:endParaRPr lang="en-US" altLang="en-GB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GB" i="1">
                <a:latin typeface="Times New Roman" panose="02020603050405020304" pitchFamily="18" charset="0"/>
                <a:cs typeface="Times New Roman" panose="02020603050405020304" pitchFamily="18" charset="0"/>
              </a:rPr>
              <a:t>the brain (dc = 1.76 mm, right). </a:t>
            </a:r>
            <a:endParaRPr lang="en-GB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</a:rPr>
              <a:t>Organ-Level GVC — Representative Patient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35735" y="6035040"/>
            <a:ext cx="9507220" cy="43053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400" i="1">
                <a:solidFill>
                  <a:srgbClr val="606060"/>
                </a:solidFill>
                <a:latin typeface="Times New Roman" panose="02020603050405020304"/>
              </a:rPr>
              <a:t>Representative patient, relative to the PTV.  GVC = NOV + ½·NCV.  Chiasm is overlap-driven; left hippocampus is near-compression-driven; five OARs return exactly zero.</a:t>
            </a:r>
            <a:endParaRPr sz="1400" i="1">
              <a:solidFill>
                <a:srgbClr val="606060"/>
              </a:solidFill>
              <a:latin typeface="Times New Roman" panose="02020603050405020304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88720" y="1874520"/>
          <a:ext cx="9966325" cy="392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8540"/>
                <a:gridCol w="1381125"/>
                <a:gridCol w="1694180"/>
                <a:gridCol w="1570990"/>
                <a:gridCol w="1761490"/>
              </a:tblGrid>
              <a:tr h="35687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NCV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NSV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GVC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Chiasma (optic chiasm)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0.4167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0.4063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0.1771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0.6198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Hippocampe G (hippocampus, L)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0.0038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0.7664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0.2298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0.3870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Voies Optiques (optic pathways)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0.2321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0.0991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0.6689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0.2816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Tronc (brainstem)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0.0782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0.8580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0.1029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Encéphale (brain)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0.9784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0.0191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Hippocampe D (hippocampus, R)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Rétine G (retina, L)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Rétine D (retina, R)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Parotide G (parotid, L)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56870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Parotide D (parotid, R)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</a:tbl>
          </a:graphicData>
        </a:graphic>
      </p:graphicFrame>
      <p:grpSp>
        <p:nvGrpSpPr>
          <p:cNvPr id="5" name="Group 4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</a:rPr>
              <a:t>Patient-Level GVC — Representative Patient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3675" y="5212080"/>
            <a:ext cx="9234805" cy="602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 algn="ctr"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None/>
            </a:pPr>
            <a:r>
              <a:rPr sz="1400" i="1">
                <a:solidFill>
                  <a:srgbClr val="333333"/>
                </a:solidFill>
                <a:latin typeface="Times New Roman" panose="02020603050405020304"/>
              </a:rPr>
              <a:t>More than 98% of the patient-level GVC is carried by the three most entangled structures; the least-engaged organs still contribute rather than being averaged away.</a:t>
            </a:r>
            <a:endParaRPr sz="1400" i="1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6320155"/>
            <a:ext cx="10424160" cy="36893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00" i="1">
                <a:solidFill>
                  <a:srgbClr val="0070C0"/>
                </a:solidFill>
                <a:latin typeface="Times New Roman" panose="02020603050405020304"/>
              </a:rPr>
              <a:t>GVC_patient = Σ w_priority·GVC² (quadratic aggregation)</a:t>
            </a:r>
            <a:endParaRPr sz="1200" i="1">
              <a:solidFill>
                <a:srgbClr val="0070C0"/>
              </a:solidFill>
              <a:latin typeface="Times New Roman" panose="02020603050405020304"/>
            </a:endParaRPr>
          </a:p>
          <a:p>
            <a:pPr algn="ctr"/>
            <a:r>
              <a:rPr sz="1200" i="1">
                <a:solidFill>
                  <a:srgbClr val="0070C0"/>
                </a:solidFill>
                <a:latin typeface="Times New Roman" panose="02020603050405020304"/>
              </a:rPr>
              <a:t>Priority weights from Marks 2010 / Mayo 2010 / Lambrecht 2018.</a:t>
            </a:r>
            <a:endParaRPr sz="1200" i="1">
              <a:solidFill>
                <a:srgbClr val="0070C0"/>
              </a:solidFill>
              <a:latin typeface="Times New Roman" panose="020206030504050203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63040" y="2020570"/>
          <a:ext cx="9235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345"/>
                <a:gridCol w="1229995"/>
                <a:gridCol w="1262380"/>
                <a:gridCol w="1145540"/>
                <a:gridCol w="1527810"/>
                <a:gridCol w="1944370"/>
              </a:tblGrid>
              <a:tr h="444137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GVC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sz="1800" b="1" baseline="-2500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sz="1800" b="1" baseline="-2500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GVC²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w·GVC²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 %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Chiasma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0.6198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0.3841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0.3457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65.88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Hippocampe G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0.3870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0.1498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0.0974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18.55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Voies Optiques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0.2816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0.0793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0.0714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13.60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Tronc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0.1029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0.0106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Encéphale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0.0191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Patient-level GVC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0.5248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</a:tbl>
          </a:graphicData>
        </a:graphic>
      </p:graphicFrame>
      <p:grpSp>
        <p:nvGrpSpPr>
          <p:cNvPr id="7" name="Group 6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8" name="Group 7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9" name="Group 8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0" name="Straight Connector 9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</a:rPr>
              <a:t>Organ-Level GVC Across Three Patients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6555" y="6035040"/>
            <a:ext cx="8869045" cy="43053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400" i="1">
                <a:solidFill>
                  <a:srgbClr val="606060"/>
                </a:solidFill>
                <a:latin typeface="Times New Roman" panose="02020603050405020304"/>
              </a:rPr>
              <a:t>Patient-level GVC spans 0.04–1.15. The second-ranked organ changes per patient; Patient 2 exceeds unity, as the unbounded severity score permits.</a:t>
            </a:r>
            <a:endParaRPr sz="1400" i="1">
              <a:solidFill>
                <a:srgbClr val="606060"/>
              </a:solidFill>
              <a:latin typeface="Times New Roman" panose="020206030504050203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0" y="1874520"/>
          <a:ext cx="8869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4840"/>
                <a:gridCol w="1802765"/>
                <a:gridCol w="1684655"/>
                <a:gridCol w="2217420"/>
              </a:tblGrid>
              <a:tr h="3352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1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2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3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>
                    <a:solidFill>
                      <a:srgbClr val="C55A1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Chiasma (optic chiasm)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0.6198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0.9938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0.1395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Voies Optiques (optic pathways)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0.2816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0.5237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0.0938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Hippocampe G (hippocampus, L)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0.3870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0.1441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0.0099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Hippocampe D (hippocampus, R)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0.0272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0.0970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Tronc (brainstem)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0.1029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0.0319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0.0913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Encéphale (brain)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0.0191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0.0187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0.0375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Rétine G (retina, L)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Rétine D (retina, R)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Parotide G (parotid, L)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Parotide D (parotid, R)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Patient-level GVC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0.5248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1.1509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0.0406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</a:tbl>
          </a:graphicData>
        </a:graphic>
      </p:graphicFrame>
      <p:grpSp>
        <p:nvGrpSpPr>
          <p:cNvPr id="6" name="Group 5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67805" y="2209800"/>
          <a:ext cx="3902075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655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0.9938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12700" marB="12700"/>
                </a:tc>
              </a:tr>
            </a:tbl>
          </a:graphicData>
        </a:graphic>
      </p:graphicFrame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p>
            <a:r>
              <a:rPr lang="en-US" altLang="en-GB" sz="3000">
                <a:solidFill>
                  <a:srgbClr val="333333"/>
                </a:solidFill>
                <a:latin typeface="Times New Roman" panose="02020603050405020304"/>
              </a:rPr>
              <a:t>matRad - Dose Distributions</a:t>
            </a:r>
            <a:endParaRPr lang="en-US" altLang="en-GB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21100" y="2701290"/>
            <a:ext cx="2444750" cy="271145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b="1628"/>
          <a:stretch>
            <a:fillRect/>
          </a:stretch>
        </p:blipFill>
        <p:spPr>
          <a:xfrm>
            <a:off x="8572500" y="2701290"/>
            <a:ext cx="2444750" cy="2686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850" y="2701290"/>
            <a:ext cx="2406650" cy="2692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2707640"/>
            <a:ext cx="2400300" cy="270510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995170" y="5497830"/>
            <a:ext cx="105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Photon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164580" y="5497830"/>
            <a:ext cx="224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Helium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486275" y="5497830"/>
            <a:ext cx="91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Proton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9173210" y="5497830"/>
            <a:ext cx="1242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Carbon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2407285" y="6493510"/>
            <a:ext cx="8472805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606060"/>
                </a:solidFill>
                <a:latin typeface="Times New Roman" panose="02020603050405020304"/>
              </a:rPr>
              <a:t>Figure — Dose distributions (A–D): photons spread widest, ions confine tightest.   matRad Cleve v3.1.0 (Wieser 2017).</a:t>
            </a:r>
            <a:endParaRPr lang="en-US" sz="1200" i="1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10" name="Group 9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15" name="Group 14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6" name="Straight Connector 15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Rounded Rectangle 20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2" name="Rounded Rectangle 21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3" name="Rounded Rectangle 22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4" name="Rounded Rectangle 23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p>
            <a:r>
              <a:rPr lang="en-US" altLang="en-GB" sz="3000">
                <a:solidFill>
                  <a:srgbClr val="333333"/>
                </a:solidFill>
                <a:latin typeface="Times New Roman" panose="02020603050405020304"/>
              </a:rPr>
              <a:t>matRad - Dose Volume Histograms </a:t>
            </a:r>
            <a:endParaRPr lang="en-US" altLang="en-GB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01790" y="1809750"/>
            <a:ext cx="4453890" cy="22987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505" y="1809750"/>
            <a:ext cx="4338320" cy="22625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05" y="4144645"/>
            <a:ext cx="4338320" cy="2171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155" y="4180840"/>
            <a:ext cx="4511675" cy="212915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95580" y="1809750"/>
            <a:ext cx="105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Photon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-283210" y="4180840"/>
            <a:ext cx="1529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Helium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88660" y="1809750"/>
            <a:ext cx="912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Proton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459095" y="4180840"/>
            <a:ext cx="1242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Carbon</a:t>
            </a:r>
            <a:endParaRPr lang="en-US" alt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2407285" y="6493510"/>
            <a:ext cx="8472805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606060"/>
                </a:solidFill>
                <a:latin typeface="Times New Roman" panose="02020603050405020304"/>
              </a:rPr>
              <a:t>Figure — DVHs (A–D): all plans cover the PTV; they separate on the OAR curves.   matRad Cleve v3.1.0 (Wieser 2017).</a:t>
            </a:r>
            <a:endParaRPr lang="en-US" sz="1200" i="1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9" name="Group 8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15" name="Group 14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6" name="Straight Connector 15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Rounded Rectangle 20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2" name="Rounded Rectangle 21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3" name="Rounded Rectangle 22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4" name="Rounded Rectangle 23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</a:rPr>
              <a:t>Mean Doses — All Three Patients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97280" y="2057400"/>
          <a:ext cx="10058400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675"/>
                <a:gridCol w="737235"/>
                <a:gridCol w="719455"/>
                <a:gridCol w="637540"/>
                <a:gridCol w="721995"/>
                <a:gridCol w="721995"/>
                <a:gridCol w="722630"/>
                <a:gridCol w="722630"/>
                <a:gridCol w="721995"/>
                <a:gridCol w="722630"/>
                <a:gridCol w="721995"/>
                <a:gridCol w="722630"/>
                <a:gridCol w="721995"/>
              </a:tblGrid>
              <a:tr h="297180">
                <a:tc>
                  <a:txBody>
                    <a:bodyPr/>
                    <a:p>
                      <a:pPr algn="l">
                        <a:buNone/>
                      </a:pPr>
                      <a:endParaRPr lang="en-GB" altLang="en-US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I</a:t>
                      </a:r>
                      <a:endParaRPr lang="en-US" altLang="en-GB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 hMerge="1">
                  <a:tcPr marL="45720" marR="45720" marT="0" marB="0" anchor="ctr"/>
                </a:tc>
                <a:tc hMerge="1">
                  <a:tcPr marL="45720" marR="45720" marT="0" marB="0" anchor="ctr"/>
                </a:tc>
                <a:tc hMerge="1">
                  <a:tcPr marL="45720" marR="45720" marT="0" marB="0" anchor="ctr"/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II</a:t>
                      </a:r>
                      <a:endParaRPr lang="en-US" altLang="en-GB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 hMerge="1">
                  <a:tcPr marL="45720" marR="45720" marT="0" marB="0" anchor="ctr"/>
                </a:tc>
                <a:tc hMerge="1">
                  <a:tcPr marL="45720" marR="45720" marT="0" marB="0" anchor="ctr"/>
                </a:tc>
                <a:tc hMerge="1">
                  <a:tcPr marL="45720" marR="45720" marT="0" marB="0" anchor="ctr"/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III</a:t>
                      </a:r>
                      <a:endParaRPr lang="en-US" altLang="en-GB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 hMerge="1">
                  <a:tcPr marL="45720" marR="45720" marT="0" marB="0" anchor="ctr"/>
                </a:tc>
                <a:tc hMerge="1">
                  <a:tcPr marL="45720" marR="45720" marT="0" marB="0" anchor="ctr"/>
                </a:tc>
                <a:tc hMerge="1"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PTV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.9997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.9964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.9943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.9951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.9991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.9933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.9907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.9912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.9999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.9966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.9784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.9959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Chiasma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.9805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.8914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.8788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.9000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.9996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1.0001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.9976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.9975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.8606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.7405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.4916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.6372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Voies Optiques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.7104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.6083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.4891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.5310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.8904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.7295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.6498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.6773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.4494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.3247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.2003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.2676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Hippocampe G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.6837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.5168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.3436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.4707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.7407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.2977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.1361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.1629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.3022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.1108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.0341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.0585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Hippocampe 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.0248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.0010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.1870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.1709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.0490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.0673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.3619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.2826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.1339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.1627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Tronc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.7875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.5963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.4780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.4785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.9273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.6409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.5519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.5336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.2765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.2588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.1650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.2121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Encéphale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.1591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.0917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.0640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.0677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.2358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.1171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.0842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.0822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.3081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.1657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.1066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.1204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Rétine G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.6624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.2684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.1347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.1503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.5065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.1298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.0552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.0791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.1036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.0029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Rétine 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.1558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.1047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.0237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.0428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.4441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.2263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.1268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.1146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.0656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.0290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.0061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.0083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Parotide G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.0094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.0047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Parotide 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.0014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.0000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99490" y="5984875"/>
            <a:ext cx="104241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i="1">
                <a:solidFill>
                  <a:srgbClr val="606060"/>
                </a:solidFill>
                <a:latin typeface="Times New Roman" panose="02020603050405020304"/>
              </a:rPr>
              <a:t>Mean dose relative to prescription. Patient 2 chiasm ≈ 1.0 across every modality — anatomy-limited, flagged in advance by the highest GVC in the study.</a:t>
            </a:r>
            <a:endParaRPr sz="1000" i="1">
              <a:solidFill>
                <a:srgbClr val="606060"/>
              </a:solidFill>
              <a:latin typeface="Times New Roman" panose="02020603050405020304"/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42890" y="2924175"/>
          <a:ext cx="2889250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995"/>
                <a:gridCol w="722630"/>
                <a:gridCol w="722630"/>
                <a:gridCol w="721995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.9996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1.0001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.9976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.9975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</a:tr>
            </a:tbl>
          </a:graphicData>
        </a:graphic>
      </p:graphicFrame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Interesting Cases</a:t>
            </a:r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097915" y="2011045"/>
          <a:ext cx="10114280" cy="3693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1890"/>
                <a:gridCol w="1847215"/>
                <a:gridCol w="2368550"/>
                <a:gridCol w="3476625"/>
              </a:tblGrid>
              <a:tr h="283845">
                <a:tc>
                  <a:txBody>
                    <a:bodyPr/>
                    <a:p>
                      <a:pPr algn="l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GVC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Photon → Best Ion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8325">
                <a:tc>
                  <a:txBody>
                    <a:bodyPr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Parotide D — P1, P3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 → 0.00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negative 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spared by all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8325">
                <a:tc>
                  <a:txBody>
                    <a:bodyPr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Rétine G — P1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 → 0.13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beam path 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GVC blind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7690">
                <a:tc>
                  <a:txBody>
                    <a:bodyPr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Chiasma — P2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Overlap 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plan spares it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8960">
                <a:tc>
                  <a:txBody>
                    <a:bodyPr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Hippocampe G — P1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 → 0.34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Near-compression 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ions halve it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7690">
                <a:tc>
                  <a:txBody>
                    <a:bodyPr/>
                    <a:p>
                      <a:pPr algn="l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Chiasma — P2 vs P3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 / 0.14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 / 0.49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organ, anatomy decides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852160"/>
            <a:ext cx="100584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i="1">
                <a:solidFill>
                  <a:srgbClr val="606060"/>
                </a:solidFill>
                <a:latin typeface="Times New Roman" panose="02020603050405020304"/>
              </a:rPr>
              <a:t>Table — Selected cases: where geometry and dose agree (true negatives, overlap-limited) and where the radial GVC misses beam-path organs.</a:t>
            </a:r>
            <a:endParaRPr sz="1000" i="1">
              <a:solidFill>
                <a:srgbClr val="60606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</a:rPr>
              <a:t>Agreement: GVC vs Delivered Dose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96465" y="2098675"/>
          <a:ext cx="7406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latin typeface="Times New Roman" panose="02020603050405020304"/>
                        </a:rPr>
                        <a:t>Patient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/>
                        </a:rPr>
                        <a:t>Photon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/>
                        </a:rPr>
                        <a:t>Proton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/>
                        </a:rPr>
                        <a:t>Helium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/>
                        </a:rPr>
                        <a:t>Carbon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/>
                        </a:rPr>
                        <a:t>Patient 1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0.847**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0.821**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0.862**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0.870**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/>
                        </a:rPr>
                        <a:t>Patient 2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0.769**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0.853**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0.828**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0.828**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/>
                        </a:rPr>
                        <a:t>Patient 3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0.922**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0.960**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0.935**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0.935**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4105910"/>
            <a:ext cx="10241280" cy="11487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sz="1500">
                <a:solidFill>
                  <a:schemeClr val="tx1"/>
                </a:solidFill>
                <a:latin typeface="Times New Roman" panose="02020603050405020304"/>
              </a:rPr>
              <a:t> </a:t>
            </a:r>
            <a:r>
              <a:rPr sz="1500">
                <a:solidFill>
                  <a:schemeClr val="tx1"/>
                </a:solidFill>
                <a:latin typeface="Times New Roman" panose="02020603050405020304"/>
              </a:rPr>
              <a:t>Ordering the OARs by their contour-only GVC reproduces the ordering of their mean delivered doses.</a:t>
            </a:r>
            <a:endParaRPr sz="1500">
              <a:solidFill>
                <a:schemeClr val="tx1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sz="1500">
                <a:solidFill>
                  <a:schemeClr val="tx1"/>
                </a:solidFill>
                <a:latin typeface="Times New Roman" panose="02020603050405020304"/>
              </a:rPr>
              <a:t> </a:t>
            </a:r>
            <a:r>
              <a:rPr sz="1500">
                <a:solidFill>
                  <a:schemeClr val="tx1"/>
                </a:solidFill>
                <a:latin typeface="Times New Roman" panose="02020603050405020304"/>
              </a:rPr>
              <a:t>Holds for every modality and every patient: ρ = 0.77–0.96 across the twelve combinations, all significant.</a:t>
            </a:r>
            <a:endParaRPr sz="1500">
              <a:solidFill>
                <a:schemeClr val="tx1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sz="1500">
                <a:solidFill>
                  <a:schemeClr val="tx1"/>
                </a:solidFill>
                <a:latin typeface="Times New Roman" panose="02020603050405020304"/>
              </a:rPr>
              <a:t> </a:t>
            </a:r>
            <a:r>
              <a:rPr sz="1500">
                <a:solidFill>
                  <a:schemeClr val="tx1"/>
                </a:solidFill>
                <a:latin typeface="Times New Roman" panose="02020603050405020304"/>
              </a:rPr>
              <a:t>A purely geometric descriptor recovers the dose burden the anatomy imposes — the central result.</a:t>
            </a:r>
            <a:endParaRPr sz="1500">
              <a:solidFill>
                <a:schemeClr val="tx1"/>
              </a:solidFill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6172200"/>
            <a:ext cx="104241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i="1">
                <a:solidFill>
                  <a:srgbClr val="606060"/>
                </a:solidFill>
                <a:latin typeface="Times New Roman" panose="02020603050405020304"/>
              </a:rPr>
              <a:t>Spearman ρ over all ten OARs. One-tailed; ** p &lt; 0.01.</a:t>
            </a:r>
            <a:endParaRPr sz="1000" i="1">
              <a:solidFill>
                <a:srgbClr val="606060"/>
              </a:solidFill>
              <a:latin typeface="Times New Roman" panose="0202060305040502030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</a:rPr>
              <a:t>Sensitivity: Non-Zero Organs Only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94560" y="2011680"/>
          <a:ext cx="7680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128016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latin typeface="Times New Roman" panose="02020603050405020304"/>
                        </a:rPr>
                        <a:t>Patient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/>
                        </a:rPr>
                        <a:t>n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/>
                        </a:rPr>
                        <a:t>Photon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/>
                        </a:rPr>
                        <a:t>Proton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/>
                        </a:rPr>
                        <a:t>Helium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Times New Roman" panose="02020603050405020304"/>
                        </a:rPr>
                        <a:t>Carbon</a:t>
                      </a:r>
                      <a:endParaRPr sz="1800" b="1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/>
                        </a:rPr>
                        <a:t>Patient 1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0.600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0.700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0.700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0.700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/>
                        </a:rPr>
                        <a:t>Patient 2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0.771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0.943**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0.886**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/>
                        </a:rPr>
                        <a:t>  </a:t>
                      </a:r>
                      <a:r>
                        <a:rPr sz="1800">
                          <a:latin typeface="Times New Roman" panose="02020603050405020304"/>
                        </a:rPr>
                        <a:t>0.886**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latin typeface="Times New Roman" panose="02020603050405020304"/>
                        </a:rPr>
                        <a:t>Patient 3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0.771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0.943**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0.829*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Times New Roman" panose="02020603050405020304"/>
                        </a:rPr>
                        <a:t>0.829*</a:t>
                      </a:r>
                      <a:endParaRPr sz="1800">
                        <a:latin typeface="Times New Roman" panose="02020603050405020304"/>
                      </a:endParaRPr>
                    </a:p>
                  </a:txBody>
                  <a:tcPr marL="45720" marR="45720" marT="0" marB="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3977640"/>
            <a:ext cx="10241280" cy="11487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sz="1500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sz="1500">
                <a:solidFill>
                  <a:srgbClr val="333333"/>
                </a:solidFill>
                <a:latin typeface="Times New Roman" panose="02020603050405020304"/>
              </a:rPr>
              <a:t>Restricted to the entangled organs, the correlation stays positive throughout (0.60–0.94).</a:t>
            </a:r>
            <a:endParaRPr sz="15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sz="1500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sz="1500">
                <a:solidFill>
                  <a:srgbClr val="333333"/>
                </a:solidFill>
                <a:latin typeface="Times New Roman" panose="02020603050405020304"/>
              </a:rPr>
              <a:t>Six of twelve combinations reach p &lt; 0.05 — none in Patient 1, where n = 5 caps the achievable significance.</a:t>
            </a:r>
            <a:endParaRPr sz="15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sz="1500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sz="1500">
                <a:solidFill>
                  <a:srgbClr val="333333"/>
                </a:solidFill>
                <a:latin typeface="Times New Roman" panose="02020603050405020304"/>
              </a:rPr>
              <a:t>A question of statistical power, not of the relationship; ranking among entangled organs needs the full cohort.</a:t>
            </a:r>
            <a:endParaRPr sz="15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6172200"/>
            <a:ext cx="104241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i="1">
                <a:solidFill>
                  <a:srgbClr val="606060"/>
                </a:solidFill>
                <a:latin typeface="Times New Roman" panose="02020603050405020304"/>
              </a:rPr>
              <a:t>Non-zero-GVC OARs only (n = 5 for Patient 1, n = 6 for Patients 2–3). One-tailed; * p&lt;0.05, ** p&lt;0.01.</a:t>
            </a:r>
            <a:endParaRPr sz="1000" i="1">
              <a:solidFill>
                <a:srgbClr val="606060"/>
              </a:solidFill>
              <a:latin typeface="Times New Roman" panose="0202060305040502030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p>
            <a:r>
              <a:rPr lang="en-US" altLang="en-GB"/>
              <a:t>Two Classes to Four Classes</a:t>
            </a:r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097280" y="598043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TGC : Tumour Geometric Complexity</a:t>
            </a:r>
            <a:endParaRPr lang="en-US" altLang="en-GB" sz="1600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8" name="Group 7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9" name="Group 8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0" name="Straight Connector 9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0" name="Content Placeholder 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89605" y="2099310"/>
            <a:ext cx="5848985" cy="35013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600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Conclusions</a:t>
            </a:r>
            <a:endParaRPr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63288"/>
            <a:ext cx="10058400" cy="1143000"/>
          </a:xfrm>
        </p:spPr>
        <p:txBody>
          <a:bodyPr/>
          <a:lstStyle/>
          <a:p>
            <a:pPr algn="ctr"/>
            <a:r>
              <a:rPr lang="en-US"/>
              <a:t>Discussion Points - Limitations - Conclusions </a:t>
            </a:r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387985" y="306705"/>
            <a:ext cx="11388090" cy="871855"/>
            <a:chOff x="611" y="267"/>
            <a:chExt cx="17934" cy="1373"/>
          </a:xfrm>
        </p:grpSpPr>
        <p:pic>
          <p:nvPicPr>
            <p:cNvPr id="4" name="Picture 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611" y="267"/>
              <a:ext cx="3949" cy="1373"/>
            </a:xfrm>
            <a:prstGeom prst="rect">
              <a:avLst/>
            </a:prstGeom>
          </p:spPr>
        </p:pic>
        <p:pic>
          <p:nvPicPr>
            <p:cNvPr id="8" name="Picture 7"/>
            <p:cNvPicPr/>
            <p:nvPr/>
          </p:nvPicPr>
          <p:blipFill>
            <a:blip r:embed="rId2"/>
            <a:srcRect t="10864" b="10173"/>
            <a:stretch>
              <a:fillRect/>
            </a:stretch>
          </p:blipFill>
          <p:spPr>
            <a:xfrm>
              <a:off x="15837" y="267"/>
              <a:ext cx="2708" cy="1373"/>
            </a:xfrm>
            <a:prstGeom prst="rect">
              <a:avLst/>
            </a:prstGeom>
          </p:spPr>
        </p:pic>
        <p:pic>
          <p:nvPicPr>
            <p:cNvPr id="9" name="Picture 8"/>
            <p:cNvPicPr/>
            <p:nvPr/>
          </p:nvPicPr>
          <p:blipFill>
            <a:blip r:embed="rId3"/>
            <a:srcRect t="14281" b="12296"/>
            <a:stretch>
              <a:fillRect/>
            </a:stretch>
          </p:blipFill>
          <p:spPr>
            <a:xfrm>
              <a:off x="8707" y="268"/>
              <a:ext cx="1785" cy="1372"/>
            </a:xfrm>
            <a:prstGeom prst="rect">
              <a:avLst/>
            </a:prstGeom>
          </p:spPr>
        </p:pic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BEF66E2-F8E0-4F94-BFB9-5EF12BC658C9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</a:rPr>
              <a:t>What the Descriptor Shows — and Its Limits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816100"/>
            <a:ext cx="10241280" cy="4023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 Not circular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GVC comes from contours, before any plan; only the PTV was optimised.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 Patient 2's chiasm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fully overlapped, spared by no modality; flagged in advance as the highest GVC.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 indent="0" algn="l"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None/>
            </a:pPr>
            <a:r>
              <a:rPr lang="en-US" altLang="en-GB" b="1" u="sng">
                <a:solidFill>
                  <a:srgbClr val="333333"/>
                </a:solidFill>
                <a:latin typeface="Times New Roman" panose="02020603050405020304"/>
              </a:rPr>
              <a:t>Limitations</a:t>
            </a:r>
            <a:endParaRPr lang="en-US" altLang="en-GB" b="1" u="sng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 Three patients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proof of concept; the complexity cut-off is not yet set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 Proposed, not derived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the form and its fixed numbers (</a:t>
            </a:r>
            <a:r>
              <a:rPr lang="en-US" altLang="en-US">
                <a:solidFill>
                  <a:srgbClr val="333333"/>
                </a:solidFill>
                <a:latin typeface="Times New Roman" panose="02020603050405020304"/>
              </a:rPr>
              <a:t>½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penalty, one G, organ weights) are chosen, not fitted</a:t>
            </a:r>
            <a:endParaRPr lang="en-US" altLang="en-GB" b="1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 Blind to beam direction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a far organ in the beam path still gets dose; the retina is the case (GVC = 0, real dose)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</a:rPr>
              <a:t>Conclusions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2073910"/>
            <a:ext cx="10241280" cy="2762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Difficulty from geometry alone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GVC grades a case from contours, at organ and patient level, no plan needed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It tracks the dose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the contour-only ordering reproduces the delivered ordering (ρ = 0.77–0.96) across all four modalities, all three patients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A verdict that explains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opens binary QA into four classes: Pass · Fail · Sub-optimal · Complexity-limited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 Proof of concept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three cases; parameters and the four classes await cohort validation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600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/>
              <a:t>Integration - Automation</a:t>
            </a:r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387985" y="306705"/>
            <a:ext cx="11388090" cy="871855"/>
            <a:chOff x="611" y="267"/>
            <a:chExt cx="17934" cy="1373"/>
          </a:xfrm>
        </p:grpSpPr>
        <p:pic>
          <p:nvPicPr>
            <p:cNvPr id="4" name="Picture 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611" y="267"/>
              <a:ext cx="3949" cy="1373"/>
            </a:xfrm>
            <a:prstGeom prst="rect">
              <a:avLst/>
            </a:prstGeom>
          </p:spPr>
        </p:pic>
        <p:pic>
          <p:nvPicPr>
            <p:cNvPr id="8" name="Picture 7"/>
            <p:cNvPicPr/>
            <p:nvPr/>
          </p:nvPicPr>
          <p:blipFill>
            <a:blip r:embed="rId2"/>
            <a:srcRect t="10864" b="10173"/>
            <a:stretch>
              <a:fillRect/>
            </a:stretch>
          </p:blipFill>
          <p:spPr>
            <a:xfrm>
              <a:off x="15837" y="267"/>
              <a:ext cx="2708" cy="1373"/>
            </a:xfrm>
            <a:prstGeom prst="rect">
              <a:avLst/>
            </a:prstGeom>
          </p:spPr>
        </p:pic>
        <p:pic>
          <p:nvPicPr>
            <p:cNvPr id="9" name="Picture 8"/>
            <p:cNvPicPr/>
            <p:nvPr/>
          </p:nvPicPr>
          <p:blipFill>
            <a:blip r:embed="rId3"/>
            <a:srcRect t="14281" b="12296"/>
            <a:stretch>
              <a:fillRect/>
            </a:stretch>
          </p:blipFill>
          <p:spPr>
            <a:xfrm>
              <a:off x="8707" y="268"/>
              <a:ext cx="1785" cy="1372"/>
            </a:xfrm>
            <a:prstGeom prst="rect">
              <a:avLst/>
            </a:prstGeom>
          </p:spPr>
        </p:pic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BEF66E2-F8E0-4F94-BFB9-5EF12BC658C9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r>
              <a:rPr sz="3000">
                <a:solidFill>
                  <a:srgbClr val="333333"/>
                </a:solidFill>
                <a:latin typeface="Times New Roman" panose="02020603050405020304"/>
              </a:rPr>
              <a:t>Future Work → Streamline-QART</a:t>
            </a:r>
            <a:endParaRPr sz="3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960880"/>
            <a:ext cx="10241280" cy="4023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None/>
            </a:pPr>
            <a:r>
              <a:rPr lang="en-US" altLang="en-GB" b="1" u="sng">
                <a:solidFill>
                  <a:srgbClr val="333333"/>
                </a:solidFill>
                <a:latin typeface="Times New Roman" panose="02020603050405020304"/>
              </a:rPr>
              <a:t>Extend the descriptor</a:t>
            </a:r>
            <a:endParaRPr lang="en-US" altLang="en-GB" b="1" u="sng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 A second, angular term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GVC sees distance, not direction. Add beam's-eye occlusion (GVC_angular) so path organs like the retina score non-zero. Final GVC = GVC_anatomy + λ·GVC_angular, λ modality-dependent.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 indent="0"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None/>
            </a:pPr>
            <a:r>
              <a:rPr lang="en-US" altLang="en-GB" b="1" u="sng">
                <a:solidFill>
                  <a:srgbClr val="333333"/>
                </a:solidFill>
                <a:latin typeface="Times New Roman" panose="02020603050405020304"/>
              </a:rPr>
              <a:t>Build the programme</a:t>
            </a:r>
            <a:endParaRPr lang="en-US" altLang="en-GB" b="1" u="sng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Scale to cohort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GVC as distributions; optimise penalties; G per modality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Validate the four classes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against recorded QA verdicts; fix the complexity cut-off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Automate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GVC as the feature for a learned four-class model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lnSpc>
                <a:spcPct val="140000"/>
              </a:lnSpc>
              <a:spcBef>
                <a:spcPts val="700"/>
              </a:spcBef>
              <a:buFont typeface="Wingdings" panose="05000000000000000000" charset="0"/>
              <a:buChar char="o"/>
            </a:pP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</a:t>
            </a:r>
            <a:r>
              <a:rPr lang="en-US" altLang="en-GB" b="1">
                <a:solidFill>
                  <a:srgbClr val="333333"/>
                </a:solidFill>
                <a:latin typeface="Times New Roman" panose="02020603050405020304"/>
              </a:rPr>
              <a:t>Prognostic QA (longer term) :</a:t>
            </a:r>
            <a:r>
              <a:rPr lang="en-US" altLang="en-GB">
                <a:solidFill>
                  <a:srgbClr val="333333"/>
                </a:solidFill>
                <a:latin typeface="Times New Roman" panose="02020603050405020304"/>
              </a:rPr>
              <a:t> link complexity to control, survival, toxicity</a:t>
            </a:r>
            <a:endParaRPr lang="en-US" altLang="en-GB">
              <a:solidFill>
                <a:srgbClr val="333333"/>
              </a:solidFill>
              <a:latin typeface="Times New Roman" panose="02020603050405020304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ounded Rectangle 15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9" name="Rounded Rectangle 18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 </a:t>
            </a:r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BEF66E2-F8E0-4F94-BFB9-5EF12BC658C9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p>
            <a:r>
              <a:rPr lang="en-US" altLang="en-GB" sz="3000">
                <a:solidFill>
                  <a:srgbClr val="333333"/>
                </a:solidFill>
                <a:latin typeface="Times New Roman" panose="02020603050405020304"/>
              </a:rPr>
              <a:t>Current Quality Assurance</a:t>
            </a:r>
            <a:endParaRPr lang="en-US" altLang="en-GB" sz="4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/>
              <a:t> Contours : GTV/CTV/PTV and OARs delineated per protocol?</a:t>
            </a:r>
            <a:endParaRPr lang="en-US" altLang="en-GB"/>
          </a:p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/>
              <a:t> Dose–volume metrics : DVH checks against protocol constraints (target coverage D95/D98, OAR limits like Dmax, Dmean)</a:t>
            </a:r>
            <a:endParaRPr lang="en-US" altLang="en-GB"/>
          </a:p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/>
              <a:t> Plan quality indices : conformity index, homogeneity index</a:t>
            </a:r>
            <a:endParaRPr lang="en-US" altLang="en-GB"/>
          </a:p>
          <a:p>
            <a:pPr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/>
              <a:t> The human judgement layer : an expert panel reads all this and issues a verdict</a:t>
            </a:r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0E5E395-25C3-4824-9B56-3631678442F4}" type="slidenum">
              <a:rPr lang="en-US" smtClean="0"/>
            </a:fld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7" name="Group 6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8" name="Group 7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9" name="Straight Connector 8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Rounded Rectangle 14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6" name="Rounded Rectangle 15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7" name="Rounded Rectangle 16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18" name="Rounded Rectangle 17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z="3000" dirty="0">
                <a:solidFill>
                  <a:srgbClr val="333333"/>
                </a:solidFill>
                <a:latin typeface="Times New Roman" panose="02020603050405020304"/>
              </a:rPr>
              <a:t>Automation: Project Flow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C1B3-58F2-40C8-A2C2-A0D554A124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5E395-25C3-4824-9B56-3631678442F4}" type="slidenum">
              <a:rPr lang="en-US" smtClean="0"/>
            </a:fld>
            <a:endParaRPr lang="en-US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242820" y="555625"/>
            <a:ext cx="7657465" cy="359410"/>
            <a:chOff x="4637" y="767"/>
            <a:chExt cx="12059" cy="566"/>
          </a:xfrm>
        </p:grpSpPr>
        <p:grpSp>
          <p:nvGrpSpPr>
            <p:cNvPr id="12" name="Group 11"/>
            <p:cNvGrpSpPr/>
            <p:nvPr userDrawn="1"/>
          </p:nvGrpSpPr>
          <p:grpSpPr>
            <a:xfrm>
              <a:off x="4637" y="1045"/>
              <a:ext cx="12044" cy="288"/>
              <a:chOff x="4637" y="1201"/>
              <a:chExt cx="12044" cy="288"/>
            </a:xfrm>
            <a:solidFill>
              <a:schemeClr val="bg1"/>
            </a:solidFill>
          </p:grpSpPr>
          <p:grpSp>
            <p:nvGrpSpPr>
              <p:cNvPr id="13" name="Group 12"/>
              <p:cNvGrpSpPr/>
              <p:nvPr userDrawn="1"/>
            </p:nvGrpSpPr>
            <p:grpSpPr>
              <a:xfrm>
                <a:off x="5038" y="1328"/>
                <a:ext cx="11643" cy="27"/>
                <a:chOff x="4169" y="1282"/>
                <a:chExt cx="11643" cy="27"/>
              </a:xfrm>
              <a:grpFill/>
            </p:grpSpPr>
            <p:cxnSp>
              <p:nvCxnSpPr>
                <p:cNvPr id="14" name="Straight Connector 13"/>
                <p:cNvCxnSpPr/>
                <p:nvPr userDrawn="1"/>
              </p:nvCxnSpPr>
              <p:spPr>
                <a:xfrm flipV="1">
                  <a:off x="4169" y="1293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 userDrawn="1"/>
              </p:nvCxnSpPr>
              <p:spPr>
                <a:xfrm flipV="1">
                  <a:off x="6616" y="1286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 userDrawn="1"/>
              </p:nvCxnSpPr>
              <p:spPr>
                <a:xfrm flipV="1">
                  <a:off x="8927" y="1284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 userDrawn="1"/>
              </p:nvCxnSpPr>
              <p:spPr>
                <a:xfrm flipV="1">
                  <a:off x="11366" y="1282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 flipV="1">
                  <a:off x="13778" y="1307"/>
                  <a:ext cx="2034" cy="2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Rounded Rectangle 18"/>
              <p:cNvSpPr/>
              <p:nvPr userDrawn="1"/>
            </p:nvSpPr>
            <p:spPr>
              <a:xfrm>
                <a:off x="4637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0" name="Rounded Rectangle 19"/>
              <p:cNvSpPr/>
              <p:nvPr userDrawn="1"/>
            </p:nvSpPr>
            <p:spPr>
              <a:xfrm>
                <a:off x="9429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1" name="Rounded Rectangle 20"/>
              <p:cNvSpPr/>
              <p:nvPr userDrawn="1"/>
            </p:nvSpPr>
            <p:spPr>
              <a:xfrm>
                <a:off x="7003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22" name="Rounded Rectangle 21"/>
              <p:cNvSpPr/>
              <p:nvPr userDrawn="1"/>
            </p:nvSpPr>
            <p:spPr>
              <a:xfrm>
                <a:off x="14308" y="1201"/>
                <a:ext cx="450" cy="288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  <p:sp>
            <p:nvSpPr>
              <p:cNvPr id="37" name="Rounded Rectangle 36"/>
              <p:cNvSpPr/>
              <p:nvPr userDrawn="1"/>
            </p:nvSpPr>
            <p:spPr>
              <a:xfrm>
                <a:off x="11825" y="1201"/>
                <a:ext cx="450" cy="28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GB" altLang="en-US"/>
              </a:p>
            </p:txBody>
          </p:sp>
        </p:grpSp>
        <p:sp>
          <p:nvSpPr>
            <p:cNvPr id="38" name="Text Box 37"/>
            <p:cNvSpPr txBox="1"/>
            <p:nvPr userDrawn="1"/>
          </p:nvSpPr>
          <p:spPr>
            <a:xfrm>
              <a:off x="5236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38"/>
            <p:cNvSpPr txBox="1"/>
            <p:nvPr userDrawn="1"/>
          </p:nvSpPr>
          <p:spPr>
            <a:xfrm>
              <a:off x="7601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39"/>
            <p:cNvSpPr txBox="1"/>
            <p:nvPr userDrawn="1"/>
          </p:nvSpPr>
          <p:spPr>
            <a:xfrm>
              <a:off x="1004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40"/>
            <p:cNvSpPr txBox="1"/>
            <p:nvPr userDrawn="1"/>
          </p:nvSpPr>
          <p:spPr>
            <a:xfrm>
              <a:off x="12482" y="767"/>
              <a:ext cx="1619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1"/>
            <p:cNvSpPr txBox="1"/>
            <p:nvPr userDrawn="1"/>
          </p:nvSpPr>
          <p:spPr>
            <a:xfrm>
              <a:off x="14880" y="767"/>
              <a:ext cx="1816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GB" sz="13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Works</a:t>
              </a:r>
              <a:endParaRPr lang="en-US" altLang="en-GB" sz="13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4" name="Table 23"/>
          <p:cNvGraphicFramePr/>
          <p:nvPr>
            <p:custDataLst>
              <p:tags r:id="rId1"/>
            </p:custDataLst>
          </p:nvPr>
        </p:nvGraphicFramePr>
        <p:xfrm>
          <a:off x="1097280" y="3946525"/>
          <a:ext cx="10059035" cy="16217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95045"/>
                <a:gridCol w="4387215"/>
                <a:gridCol w="2473960"/>
                <a:gridCol w="2202815"/>
              </a:tblGrid>
              <a:tr h="274320">
                <a:tc>
                  <a:txBody>
                    <a:bodyPr/>
                    <a:p>
                      <a:pPr algn="ctr"/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I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II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III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98830">
                <a:tc>
                  <a:txBody>
                    <a:bodyPr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Tabular — GVC, clinical (plan-free) · DVH, 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dose metrics (plan-derived)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Imaging — CT, RTSTRUCT, RTDOSE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streams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on tabular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 on RT-DICOM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fusion → verdict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9" name="Text Box 28"/>
          <p:cNvSpPr txBox="1"/>
          <p:nvPr/>
        </p:nvSpPr>
        <p:spPr>
          <a:xfrm>
            <a:off x="1108710" y="2091055"/>
            <a:ext cx="10059035" cy="1337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predict the four-class QA verdict from routinely available data; multimodal learning.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Verdict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Pass · Fail · Sub-optimal · Complexity-limited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97280" y="5669280"/>
            <a:ext cx="100584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i="1">
                <a:solidFill>
                  <a:srgbClr val="606060"/>
                </a:solidFill>
                <a:latin typeface="Times New Roman" panose="02020603050405020304"/>
              </a:rPr>
              <a:t>Figure — Proposed multimodal pipeline (planned PhD work): reduced and spatial streams fused to predict the four QA classes.</a:t>
            </a:r>
            <a:endParaRPr sz="1000" i="1">
              <a:solidFill>
                <a:srgbClr val="60606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2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3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4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5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6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7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8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9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10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11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12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13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14.xml><?xml version="1.0" encoding="utf-8"?>
<p:tagLst xmlns:p="http://schemas.openxmlformats.org/presentationml/2006/main">
  <p:tag name="KSO_WM_DIAGRAM_VIRTUALLY_FRAME" val="{&quot;height&quot;:143.99,&quot;left&quot;:43.2,&quot;top&quot;:138.95,&quot;width&quot;:486.7}"/>
</p:tagLst>
</file>

<file path=ppt/tags/tag15.xml><?xml version="1.0" encoding="utf-8"?>
<p:tagLst xmlns:p="http://schemas.openxmlformats.org/presentationml/2006/main">
  <p:tag name="TABLE_ENDDRAG_ORIGIN_RECT" val="260*246"/>
  <p:tag name="TABLE_ENDDRAG_RECT" val="631*167*260*246"/>
</p:tagLst>
</file>

<file path=ppt/tags/tag16.xml><?xml version="1.0" encoding="utf-8"?>
<p:tagLst xmlns:p="http://schemas.openxmlformats.org/presentationml/2006/main">
  <p:tag name="TABLE_ENDDRAG_ORIGIN_RECT" val="784*308"/>
  <p:tag name="TABLE_ENDDRAG_RECT" val="93*147*784*308"/>
</p:tagLst>
</file>

<file path=ppt/tags/tag17.xml><?xml version="1.0" encoding="utf-8"?>
<p:tagLst xmlns:p="http://schemas.openxmlformats.org/presentationml/2006/main">
  <p:tag name="TABLE_ENDDRAG_ORIGIN_RECT" val="792*280"/>
  <p:tag name="TABLE_ENDDRAG_RECT" val="86*151*792*280"/>
</p:tagLst>
</file>

<file path=ppt/tags/tag18.xml><?xml version="1.0" encoding="utf-8"?>
<p:tagLst xmlns:p="http://schemas.openxmlformats.org/presentationml/2006/main">
  <p:tag name="TABLE_ENDDRAG_ORIGIN_RECT" val="796*290"/>
  <p:tag name="TABLE_ENDDRAG_RECT" val="86*223*796*290"/>
</p:tagLst>
</file>

<file path=ppt/tags/tag19.xml><?xml version="1.0" encoding="utf-8"?>
<p:tagLst xmlns:p="http://schemas.openxmlformats.org/presentationml/2006/main">
  <p:tag name="TABLE_ENDDRAG_ORIGIN_RECT" val="792*125"/>
  <p:tag name="TABLE_ENDDRAG_RECT" val="86*361*792*125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15432</Words>
  <Application>WPS Presentation</Application>
  <PresentationFormat>Widescreen</PresentationFormat>
  <Paragraphs>1505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53" baseType="lpstr">
      <vt:lpstr>Arial</vt:lpstr>
      <vt:lpstr>SimSun</vt:lpstr>
      <vt:lpstr>Wingdings</vt:lpstr>
      <vt:lpstr>Times New Roman</vt:lpstr>
      <vt:lpstr>Calibri</vt:lpstr>
      <vt:lpstr>Calibri Light</vt:lpstr>
      <vt:lpstr>Times New Roman</vt:lpstr>
      <vt:lpstr>Wingdings</vt:lpstr>
      <vt:lpstr>Calibri</vt:lpstr>
      <vt:lpstr>Microsoft YaHei</vt:lpstr>
      <vt:lpstr>Arial Unicode MS</vt:lpstr>
      <vt:lpstr>Aptos</vt:lpstr>
      <vt:lpstr>Segoe UI</vt:lpstr>
      <vt:lpstr>Calibri</vt:lpstr>
      <vt:lpstr>Cambria Math</vt:lpstr>
      <vt:lpstr>MS Mincho</vt:lpstr>
      <vt:lpstr>Segoe Print</vt:lpstr>
      <vt:lpstr>Retrospect</vt:lpstr>
      <vt:lpstr>1_Retrospect</vt:lpstr>
      <vt:lpstr>Tumour Geometric Complexity: A Proof of Concept Towards Explainable Quality Assurance in Radiotherapy Trials</vt:lpstr>
      <vt:lpstr>A Bird’s Eye View </vt:lpstr>
      <vt:lpstr>Introduction and Motivation</vt:lpstr>
      <vt:lpstr>Radiotherapy and where Clinical Trials Fit</vt:lpstr>
      <vt:lpstr>Its Limitations</vt:lpstr>
      <vt:lpstr>Objectives of the Thesis</vt:lpstr>
      <vt:lpstr>Methods</vt:lpstr>
      <vt:lpstr>From Topological Complexity to a Contour-Only Descriptor</vt:lpstr>
      <vt:lpstr>Design Requirements for the Descriptor</vt:lpstr>
      <vt:lpstr>Tumour Geometric Complexity(TGC) - Quantification</vt:lpstr>
      <vt:lpstr>Organ Level Geometric Volume Coefficient</vt:lpstr>
      <vt:lpstr>Interpretation of Geometric Descriptor</vt:lpstr>
      <vt:lpstr>Patient Level Geometric Volume Coefficient</vt:lpstr>
      <vt:lpstr>Planning Study — matRad + Parameters</vt:lpstr>
      <vt:lpstr>Results</vt:lpstr>
      <vt:lpstr>Dose-Gradient Extraction (G)</vt:lpstr>
      <vt:lpstr>Organ-Level GVC — Representative Patient</vt:lpstr>
      <vt:lpstr>Patient-Level GVC — Representative Patient</vt:lpstr>
      <vt:lpstr>Organ-Level GVC Across Three Patients</vt:lpstr>
      <vt:lpstr>matRad - Dose Distributions</vt:lpstr>
      <vt:lpstr>matRad - Dose Volume Histograms </vt:lpstr>
      <vt:lpstr>Mean Doses — All Three Patients</vt:lpstr>
      <vt:lpstr>Interesting Cases</vt:lpstr>
      <vt:lpstr>Agreement: GVC vs Delivered Dose</vt:lpstr>
      <vt:lpstr>Sensitivity: Non-Zero Organs Only</vt:lpstr>
      <vt:lpstr>Two Classes to Four Classes</vt:lpstr>
      <vt:lpstr>Discussion and Conclusions</vt:lpstr>
      <vt:lpstr>What the Descriptor Shows — and Its Limits</vt:lpstr>
      <vt:lpstr>Conclusions</vt:lpstr>
      <vt:lpstr>Future Work</vt:lpstr>
      <vt:lpstr>Future Work → Streamline-QART</vt:lpstr>
      <vt:lpstr>Thank You! </vt:lpstr>
      <vt:lpstr>Current Quality Assurance</vt:lpstr>
      <vt:lpstr>Automation: Project Flow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Sufyan</dc:creator>
  <cp:lastModifiedBy>mohammadsufyan577</cp:lastModifiedBy>
  <cp:revision>61</cp:revision>
  <dcterms:created xsi:type="dcterms:W3CDTF">2026-04-14T12:10:00Z</dcterms:created>
  <dcterms:modified xsi:type="dcterms:W3CDTF">2026-08-30T12:50:45Z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7DC3D994408F4968B1D85ABFB55539F0_12</vt:lpwstr>
  </property>
  <property fmtid="{D5CDD505-2E9C-101B-9397-08002B2CF9AE}" pid="3" name="KSOProductBuildVer">
    <vt:lpwstr>2057-12.2.0.23206</vt:lpwstr>
  </property>
</Properties>
</file>